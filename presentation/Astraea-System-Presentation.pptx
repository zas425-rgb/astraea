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7D2FE"/>
    <a:srgbClr val="E2574C"/>
    <a:srgbClr val="FFB7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nebula-top"/>
          <p:cNvSpPr/>
          <p:nvPr/>
        </p:nvSpPr>
        <p:spPr>
          <a:xfrm>
            <a:off x="-857250" y="-1143000"/>
            <a:ext cx="4953000" cy="3429000"/>
          </a:xfrm>
          <a:prstGeom prst="ellipse">
            <a:avLst/>
          </a:prstGeom>
          <a:solidFill>
            <a:srgbClr val="6366F1">
              <a:alpha val="18000"/>
            </a:srgbClr>
          </a:solidFill>
          <a:ln>
            <a:noFill/>
          </a:ln>
        </p:spPr>
      </p:sp>
      <p:sp>
        <p:nvSpPr>
          <p:cNvPr id="3" name="nebula-right"/>
          <p:cNvSpPr/>
          <p:nvPr/>
        </p:nvSpPr>
        <p:spPr>
          <a:xfrm>
            <a:off x="8858250" y="762000"/>
            <a:ext cx="4381500" cy="4381500"/>
          </a:xfrm>
          <a:prstGeom prst="ellipse">
            <a:avLst/>
          </a:prstGeom>
          <a:solidFill>
            <a:srgbClr val="00F5D4">
              <a:alpha val="10000"/>
            </a:srgbClr>
          </a:solidFill>
          <a:ln>
            <a:noFill/>
          </a:ln>
        </p:spPr>
      </p:sp>
      <p:sp>
        <p:nvSpPr>
          <p:cNvPr id="500" name="star-0"/>
          <p:cNvSpPr/>
          <p:nvPr/>
        </p:nvSpPr>
        <p:spPr>
          <a:xfrm>
            <a:off x="514350" y="838200"/>
            <a:ext cx="38100" cy="38100"/>
          </a:xfrm>
          <a:prstGeom prst="ellipse">
            <a:avLst/>
          </a:prstGeom>
          <a:solidFill>
            <a:srgbClr val="00F5D4">
              <a:alpha val="85000"/>
            </a:srgbClr>
          </a:solidFill>
          <a:ln>
            <a:noFill/>
          </a:ln>
        </p:spPr>
      </p:sp>
      <p:sp>
        <p:nvSpPr>
          <p:cNvPr id="501" name="star-1"/>
          <p:cNvSpPr/>
          <p:nvPr/>
        </p:nvSpPr>
        <p:spPr>
          <a:xfrm>
            <a:off x="1752600" y="590550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02" name="star-2"/>
          <p:cNvSpPr/>
          <p:nvPr/>
        </p:nvSpPr>
        <p:spPr>
          <a:xfrm>
            <a:off x="2362200" y="99060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03" name="star-3"/>
          <p:cNvSpPr/>
          <p:nvPr/>
        </p:nvSpPr>
        <p:spPr>
          <a:xfrm>
            <a:off x="3352800" y="5219700"/>
            <a:ext cx="38100" cy="38100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04" name="star-4"/>
          <p:cNvSpPr/>
          <p:nvPr/>
        </p:nvSpPr>
        <p:spPr>
          <a:xfrm>
            <a:off x="4533900" y="685800"/>
            <a:ext cx="28575" cy="28575"/>
          </a:xfrm>
          <a:prstGeom prst="ellipse">
            <a:avLst/>
          </a:prstGeom>
          <a:solidFill>
            <a:srgbClr val="00F5D4">
              <a:alpha val="85000"/>
            </a:srgbClr>
          </a:solidFill>
          <a:ln>
            <a:noFill/>
          </a:ln>
        </p:spPr>
      </p:sp>
      <p:sp>
        <p:nvSpPr>
          <p:cNvPr id="505" name="star-5"/>
          <p:cNvSpPr/>
          <p:nvPr/>
        </p:nvSpPr>
        <p:spPr>
          <a:xfrm>
            <a:off x="5829300" y="607695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06" name="star-6"/>
          <p:cNvSpPr/>
          <p:nvPr/>
        </p:nvSpPr>
        <p:spPr>
          <a:xfrm>
            <a:off x="7067550" y="1200150"/>
            <a:ext cx="38100" cy="38100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07" name="star-7"/>
          <p:cNvSpPr/>
          <p:nvPr/>
        </p:nvSpPr>
        <p:spPr>
          <a:xfrm>
            <a:off x="8782050" y="567690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08" name="star-8"/>
          <p:cNvSpPr/>
          <p:nvPr/>
        </p:nvSpPr>
        <p:spPr>
          <a:xfrm>
            <a:off x="10172700" y="876300"/>
            <a:ext cx="28575" cy="28575"/>
          </a:xfrm>
          <a:prstGeom prst="ellipse">
            <a:avLst/>
          </a:prstGeom>
          <a:solidFill>
            <a:srgbClr val="00F5D4">
              <a:alpha val="85000"/>
            </a:srgbClr>
          </a:solidFill>
          <a:ln>
            <a:noFill/>
          </a:ln>
        </p:spPr>
      </p:sp>
      <p:sp>
        <p:nvSpPr>
          <p:cNvPr id="509" name="star-9"/>
          <p:cNvSpPr/>
          <p:nvPr/>
        </p:nvSpPr>
        <p:spPr>
          <a:xfrm>
            <a:off x="11315700" y="6115050"/>
            <a:ext cx="38100" cy="38100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10" name="star-10"/>
          <p:cNvSpPr/>
          <p:nvPr/>
        </p:nvSpPr>
        <p:spPr>
          <a:xfrm>
            <a:off x="11525250" y="213360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11" name="star-11"/>
          <p:cNvSpPr/>
          <p:nvPr/>
        </p:nvSpPr>
        <p:spPr>
          <a:xfrm>
            <a:off x="819150" y="384810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12" name="star-12"/>
          <p:cNvSpPr/>
          <p:nvPr/>
        </p:nvSpPr>
        <p:spPr>
          <a:xfrm>
            <a:off x="9639300" y="3429000"/>
            <a:ext cx="38100" cy="38100"/>
          </a:xfrm>
          <a:prstGeom prst="ellipse">
            <a:avLst/>
          </a:prstGeom>
          <a:solidFill>
            <a:srgbClr val="00F5D4">
              <a:alpha val="85000"/>
            </a:srgbClr>
          </a:solidFill>
          <a:ln>
            <a:noFill/>
          </a:ln>
        </p:spPr>
      </p:sp>
      <p:sp>
        <p:nvSpPr>
          <p:cNvPr id="513" name="star-13"/>
          <p:cNvSpPr/>
          <p:nvPr/>
        </p:nvSpPr>
        <p:spPr>
          <a:xfrm>
            <a:off x="6762750" y="483870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10" name="hero-glass"/>
          <p:cNvSpPr/>
          <p:nvPr/>
        </p:nvSpPr>
        <p:spPr>
          <a:xfrm>
            <a:off x="723900" y="1028700"/>
            <a:ext cx="7239000" cy="4095750"/>
          </a:xfrm>
          <a:prstGeom prst="roundRect">
            <a:avLst/>
          </a:prstGeom>
          <a:solidFill>
            <a:srgbClr val="0F1226">
              <a:alpha val="76000"/>
            </a:srgbClr>
          </a:solidFill>
          <a:ln w="12700">
            <a:solidFill>
              <a:srgbClr val="C7D2FE">
                <a:alpha val="20000"/>
              </a:srgbClr>
            </a:solidFill>
          </a:ln>
        </p:spPr>
      </p:sp>
      <p:sp>
        <p:nvSpPr>
          <p:cNvPr id="11" name="brand"/>
          <p:cNvSpPr txBox="1"/>
          <p:nvPr/>
        </p:nvSpPr>
        <p:spPr>
          <a:xfrm>
            <a:off x="1104900" y="1352550"/>
            <a:ext cx="3429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1" dirty="0" smtClean="0">
                <a:solidFill>
                  <a:srgbClr val="00F5D4"/>
                </a:solidFill>
                <a:latin typeface="Aptos"/>
              </a:rPr>
              <a:t>ASTRAEA </a:t>
            </a:r>
            <a:r>
              <a:rPr lang="en-US" sz="2000" b="1" dirty="0" smtClean="0">
                <a:solidFill>
                  <a:srgbClr val="C7D2FE"/>
                </a:solidFill>
                <a:latin typeface="Aptos"/>
              </a:rPr>
              <a:t>–</a:t>
            </a:r>
            <a:r>
              <a:rPr lang="en-US" sz="2000" b="1" dirty="0" smtClean="0">
                <a:solidFill>
                  <a:srgbClr val="00F5D4"/>
                </a:solidFill>
                <a:latin typeface="Aptos"/>
              </a:rPr>
              <a:t> </a:t>
            </a:r>
            <a:r>
              <a:rPr lang="en-US" b="1" dirty="0" smtClean="0">
                <a:solidFill>
                  <a:srgbClr val="FFB703"/>
                </a:solidFill>
                <a:latin typeface="Aptos"/>
              </a:rPr>
              <a:t>By </a:t>
            </a:r>
            <a:r>
              <a:rPr lang="en-US" b="1" dirty="0" err="1" smtClean="0">
                <a:solidFill>
                  <a:srgbClr val="FFB703"/>
                </a:solidFill>
                <a:latin typeface="Aptos"/>
              </a:rPr>
              <a:t>Zahraa</a:t>
            </a:r>
            <a:r>
              <a:rPr lang="en-US" b="1" dirty="0" smtClean="0">
                <a:solidFill>
                  <a:srgbClr val="FFB703"/>
                </a:solidFill>
                <a:latin typeface="Aptos"/>
              </a:rPr>
              <a:t> </a:t>
            </a:r>
            <a:r>
              <a:rPr lang="en-US" b="1" dirty="0" err="1" smtClean="0">
                <a:solidFill>
                  <a:srgbClr val="FFB703"/>
                </a:solidFill>
                <a:latin typeface="Aptos"/>
              </a:rPr>
              <a:t>Saheli</a:t>
            </a:r>
            <a:endParaRPr dirty="0">
              <a:solidFill>
                <a:srgbClr val="FFB703"/>
              </a:solidFill>
            </a:endParaRPr>
          </a:p>
        </p:txBody>
      </p:sp>
      <p:sp>
        <p:nvSpPr>
          <p:cNvPr id="12" name="main-title"/>
          <p:cNvSpPr txBox="1"/>
          <p:nvPr/>
        </p:nvSpPr>
        <p:spPr>
          <a:xfrm>
            <a:off x="1104900" y="1981200"/>
            <a:ext cx="6191250" cy="1428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5000" b="1" dirty="0">
                <a:solidFill>
                  <a:srgbClr val="C7D2FE"/>
                </a:solidFill>
                <a:latin typeface="Aptos"/>
              </a:rPr>
              <a:t>Celestial Skill</a:t>
            </a:r>
            <a:endParaRPr sz="5000" dirty="0"/>
          </a:p>
          <a:p>
            <a:pPr algn="l"/>
            <a:r>
              <a:rPr lang="en-US" sz="5000" b="1" dirty="0">
                <a:solidFill>
                  <a:srgbClr val="C7D2FE"/>
                </a:solidFill>
                <a:latin typeface="Aptos"/>
              </a:rPr>
              <a:t>&amp; Retention Tracker</a:t>
            </a:r>
            <a:endParaRPr sz="5000" dirty="0"/>
          </a:p>
        </p:txBody>
      </p:sp>
      <p:sp>
        <p:nvSpPr>
          <p:cNvPr id="13" name="subtitle"/>
          <p:cNvSpPr txBox="1"/>
          <p:nvPr/>
        </p:nvSpPr>
        <p:spPr>
          <a:xfrm>
            <a:off x="1143000" y="3600450"/>
            <a:ext cx="59055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>
                <a:solidFill>
                  <a:srgbClr val="94A3B8"/>
                </a:solidFill>
                <a:latin typeface="Aptos"/>
              </a:rPr>
              <a:t>A full-stack ASP.NET Core 8 system for mapping learned skills, predicting memory decay, and enabling read-only mentor guidance.</a:t>
            </a:r>
            <a:endParaRPr sz="2000"/>
          </a:p>
        </p:txBody>
      </p:sp>
      <p:sp>
        <p:nvSpPr>
          <p:cNvPr id="14" name="teal-orbit"/>
          <p:cNvSpPr/>
          <p:nvPr/>
        </p:nvSpPr>
        <p:spPr>
          <a:xfrm>
            <a:off x="8572500" y="1562100"/>
            <a:ext cx="2000250" cy="2000250"/>
          </a:xfrm>
          <a:prstGeom prst="ellipse">
            <a:avLst/>
          </a:prstGeom>
          <a:solidFill>
            <a:srgbClr val="00F5D4">
              <a:alpha val="16000"/>
            </a:srgbClr>
          </a:solidFill>
          <a:ln w="25400">
            <a:solidFill>
              <a:srgbClr val="00F5D4">
                <a:alpha val="80000"/>
              </a:srgbClr>
            </a:solidFill>
          </a:ln>
        </p:spPr>
      </p:sp>
      <p:sp>
        <p:nvSpPr>
          <p:cNvPr id="15" name="amber-star"/>
          <p:cNvSpPr/>
          <p:nvPr/>
        </p:nvSpPr>
        <p:spPr>
          <a:xfrm>
            <a:off x="9391650" y="2305050"/>
            <a:ext cx="361950" cy="361950"/>
          </a:xfrm>
          <a:prstGeom prst="ellipse">
            <a:avLst/>
          </a:prstGeom>
          <a:solidFill>
            <a:srgbClr val="FFB703"/>
          </a:solidFill>
          <a:ln>
            <a:noFill/>
          </a:ln>
        </p:spPr>
      </p:sp>
      <p:sp>
        <p:nvSpPr>
          <p:cNvPr id="16" name="coral-star"/>
          <p:cNvSpPr/>
          <p:nvPr/>
        </p:nvSpPr>
        <p:spPr>
          <a:xfrm>
            <a:off x="10248900" y="3429000"/>
            <a:ext cx="228600" cy="228600"/>
          </a:xfrm>
          <a:prstGeom prst="ellipse">
            <a:avLst/>
          </a:prstGeom>
          <a:solidFill>
            <a:srgbClr val="E2574C"/>
          </a:solidFill>
          <a:ln>
            <a:noFill/>
          </a:ln>
        </p:spPr>
      </p:sp>
      <p:cxnSp>
        <p:nvCxnSpPr>
          <p:cNvPr id="17" name="constellation-line-1"/>
          <p:cNvCxnSpPr/>
          <p:nvPr/>
        </p:nvCxnSpPr>
        <p:spPr>
          <a:xfrm>
            <a:off x="9572625" y="2486025"/>
            <a:ext cx="790575" cy="1047750"/>
          </a:xfrm>
          <a:prstGeom prst="line">
            <a:avLst/>
          </a:prstGeom>
          <a:ln w="12700">
            <a:solidFill>
              <a:srgbClr val="C7D2FE"/>
            </a:solidFill>
          </a:ln>
        </p:spPr>
      </p:cxnSp>
      <p:cxnSp>
        <p:nvCxnSpPr>
          <p:cNvPr id="18" name="constellation-line-2"/>
          <p:cNvCxnSpPr/>
          <p:nvPr/>
        </p:nvCxnSpPr>
        <p:spPr>
          <a:xfrm flipH="1" flipV="1">
            <a:off x="8705850" y="1790700"/>
            <a:ext cx="866775" cy="695325"/>
          </a:xfrm>
          <a:prstGeom prst="line">
            <a:avLst/>
          </a:prstGeom>
          <a:ln w="12700">
            <a:solidFill>
              <a:srgbClr val="C7D2FE"/>
            </a:solidFill>
          </a:ln>
        </p:spPr>
      </p:cxnSp>
      <p:sp>
        <p:nvSpPr>
          <p:cNvPr id="19" name="footer"/>
          <p:cNvSpPr txBox="1"/>
          <p:nvPr/>
        </p:nvSpPr>
        <p:spPr>
          <a:xfrm>
            <a:off x="1123950" y="5695950"/>
            <a:ext cx="6477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dirty="0">
                <a:solidFill>
                  <a:srgbClr val="94A3B8"/>
                </a:solidFill>
                <a:latin typeface="Aptos"/>
              </a:rPr>
              <a:t>Feature overview • Architecture • Challenges</a:t>
            </a:r>
            <a:endParaRPr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nebula-top"/>
          <p:cNvSpPr/>
          <p:nvPr/>
        </p:nvSpPr>
        <p:spPr>
          <a:xfrm>
            <a:off x="-857250" y="-1143000"/>
            <a:ext cx="4953000" cy="3429000"/>
          </a:xfrm>
          <a:prstGeom prst="ellipse">
            <a:avLst/>
          </a:prstGeom>
          <a:solidFill>
            <a:srgbClr val="6366F1">
              <a:alpha val="18000"/>
            </a:srgbClr>
          </a:solidFill>
          <a:ln>
            <a:noFill/>
          </a:ln>
        </p:spPr>
      </p:sp>
      <p:sp>
        <p:nvSpPr>
          <p:cNvPr id="3" name="nebula-right"/>
          <p:cNvSpPr/>
          <p:nvPr/>
        </p:nvSpPr>
        <p:spPr>
          <a:xfrm>
            <a:off x="8858250" y="762000"/>
            <a:ext cx="4381500" cy="4381500"/>
          </a:xfrm>
          <a:prstGeom prst="ellipse">
            <a:avLst/>
          </a:prstGeom>
          <a:solidFill>
            <a:srgbClr val="00F5D4">
              <a:alpha val="10000"/>
            </a:srgbClr>
          </a:solidFill>
          <a:ln>
            <a:noFill/>
          </a:ln>
        </p:spPr>
      </p:sp>
      <p:sp>
        <p:nvSpPr>
          <p:cNvPr id="500" name="star-0"/>
          <p:cNvSpPr/>
          <p:nvPr/>
        </p:nvSpPr>
        <p:spPr>
          <a:xfrm>
            <a:off x="514350" y="838200"/>
            <a:ext cx="38100" cy="38100"/>
          </a:xfrm>
          <a:prstGeom prst="ellipse">
            <a:avLst/>
          </a:prstGeom>
          <a:solidFill>
            <a:srgbClr val="00F5D4">
              <a:alpha val="85000"/>
            </a:srgbClr>
          </a:solidFill>
          <a:ln>
            <a:noFill/>
          </a:ln>
        </p:spPr>
      </p:sp>
      <p:sp>
        <p:nvSpPr>
          <p:cNvPr id="501" name="star-1"/>
          <p:cNvSpPr/>
          <p:nvPr/>
        </p:nvSpPr>
        <p:spPr>
          <a:xfrm>
            <a:off x="1752600" y="590550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02" name="star-2"/>
          <p:cNvSpPr/>
          <p:nvPr/>
        </p:nvSpPr>
        <p:spPr>
          <a:xfrm>
            <a:off x="2362200" y="99060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03" name="star-3"/>
          <p:cNvSpPr/>
          <p:nvPr/>
        </p:nvSpPr>
        <p:spPr>
          <a:xfrm>
            <a:off x="3352800" y="5219700"/>
            <a:ext cx="38100" cy="38100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04" name="star-4"/>
          <p:cNvSpPr/>
          <p:nvPr/>
        </p:nvSpPr>
        <p:spPr>
          <a:xfrm>
            <a:off x="4533900" y="685800"/>
            <a:ext cx="28575" cy="28575"/>
          </a:xfrm>
          <a:prstGeom prst="ellipse">
            <a:avLst/>
          </a:prstGeom>
          <a:solidFill>
            <a:srgbClr val="00F5D4">
              <a:alpha val="85000"/>
            </a:srgbClr>
          </a:solidFill>
          <a:ln>
            <a:noFill/>
          </a:ln>
        </p:spPr>
      </p:sp>
      <p:sp>
        <p:nvSpPr>
          <p:cNvPr id="505" name="star-5"/>
          <p:cNvSpPr/>
          <p:nvPr/>
        </p:nvSpPr>
        <p:spPr>
          <a:xfrm>
            <a:off x="5829300" y="607695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06" name="star-6"/>
          <p:cNvSpPr/>
          <p:nvPr/>
        </p:nvSpPr>
        <p:spPr>
          <a:xfrm>
            <a:off x="7067550" y="1200150"/>
            <a:ext cx="38100" cy="38100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07" name="star-7"/>
          <p:cNvSpPr/>
          <p:nvPr/>
        </p:nvSpPr>
        <p:spPr>
          <a:xfrm>
            <a:off x="8782050" y="567690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08" name="star-8"/>
          <p:cNvSpPr/>
          <p:nvPr/>
        </p:nvSpPr>
        <p:spPr>
          <a:xfrm>
            <a:off x="10172700" y="876300"/>
            <a:ext cx="28575" cy="28575"/>
          </a:xfrm>
          <a:prstGeom prst="ellipse">
            <a:avLst/>
          </a:prstGeom>
          <a:solidFill>
            <a:srgbClr val="00F5D4">
              <a:alpha val="85000"/>
            </a:srgbClr>
          </a:solidFill>
          <a:ln>
            <a:noFill/>
          </a:ln>
        </p:spPr>
      </p:sp>
      <p:sp>
        <p:nvSpPr>
          <p:cNvPr id="509" name="star-9"/>
          <p:cNvSpPr/>
          <p:nvPr/>
        </p:nvSpPr>
        <p:spPr>
          <a:xfrm>
            <a:off x="11315700" y="6115050"/>
            <a:ext cx="38100" cy="38100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10" name="star-10"/>
          <p:cNvSpPr/>
          <p:nvPr/>
        </p:nvSpPr>
        <p:spPr>
          <a:xfrm>
            <a:off x="11525250" y="213360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11" name="star-11"/>
          <p:cNvSpPr/>
          <p:nvPr/>
        </p:nvSpPr>
        <p:spPr>
          <a:xfrm>
            <a:off x="819150" y="384810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12" name="star-12"/>
          <p:cNvSpPr/>
          <p:nvPr/>
        </p:nvSpPr>
        <p:spPr>
          <a:xfrm>
            <a:off x="9639300" y="3429000"/>
            <a:ext cx="38100" cy="38100"/>
          </a:xfrm>
          <a:prstGeom prst="ellipse">
            <a:avLst/>
          </a:prstGeom>
          <a:solidFill>
            <a:srgbClr val="00F5D4">
              <a:alpha val="85000"/>
            </a:srgbClr>
          </a:solidFill>
          <a:ln>
            <a:noFill/>
          </a:ln>
        </p:spPr>
      </p:sp>
      <p:sp>
        <p:nvSpPr>
          <p:cNvPr id="513" name="star-13"/>
          <p:cNvSpPr/>
          <p:nvPr/>
        </p:nvSpPr>
        <p:spPr>
          <a:xfrm>
            <a:off x="6762750" y="483870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20" name="slide-number"/>
          <p:cNvSpPr txBox="1"/>
          <p:nvPr/>
        </p:nvSpPr>
        <p:spPr>
          <a:xfrm>
            <a:off x="10839450" y="400050"/>
            <a:ext cx="666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en-US" sz="1400" b="1">
                <a:solidFill>
                  <a:srgbClr val="94A3B8"/>
                </a:solidFill>
                <a:latin typeface="Aptos"/>
              </a:rPr>
              <a:t>02</a:t>
            </a:r>
            <a:endParaRPr sz="1400"/>
          </a:p>
        </p:txBody>
      </p:sp>
      <p:sp>
        <p:nvSpPr>
          <p:cNvPr id="21" name="eyebrow"/>
          <p:cNvSpPr txBox="1"/>
          <p:nvPr/>
        </p:nvSpPr>
        <p:spPr>
          <a:xfrm>
            <a:off x="685800" y="400050"/>
            <a:ext cx="15240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400" b="1">
                <a:solidFill>
                  <a:srgbClr val="00F5D4"/>
                </a:solidFill>
                <a:latin typeface="Aptos"/>
              </a:rPr>
              <a:t>ASTRAEA</a:t>
            </a:r>
            <a:endParaRPr sz="1400"/>
          </a:p>
        </p:txBody>
      </p:sp>
      <p:sp>
        <p:nvSpPr>
          <p:cNvPr id="22" name="title"/>
          <p:cNvSpPr txBox="1"/>
          <p:nvPr/>
        </p:nvSpPr>
        <p:spPr>
          <a:xfrm>
            <a:off x="685800" y="800100"/>
            <a:ext cx="78105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600" b="1">
                <a:solidFill>
                  <a:srgbClr val="C7D2FE"/>
                </a:solidFill>
                <a:latin typeface="Aptos"/>
              </a:rPr>
              <a:t>What Astraea Solves</a:t>
            </a:r>
            <a:endParaRPr sz="3600"/>
          </a:p>
        </p:txBody>
      </p:sp>
      <p:sp>
        <p:nvSpPr>
          <p:cNvPr id="23" name="subtitle"/>
          <p:cNvSpPr txBox="1"/>
          <p:nvPr/>
        </p:nvSpPr>
        <p:spPr>
          <a:xfrm>
            <a:off x="704850" y="1390650"/>
            <a:ext cx="72390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94A3B8"/>
                </a:solidFill>
                <a:latin typeface="Aptos"/>
              </a:rPr>
              <a:t>Self-taught learning fades quietly unless practice, review, and mentorship become visible.</a:t>
            </a:r>
            <a:endParaRPr sz="1600"/>
          </a:p>
        </p:txBody>
      </p:sp>
      <p:sp>
        <p:nvSpPr>
          <p:cNvPr id="30" name="Memory decay is invisible card"/>
          <p:cNvSpPr/>
          <p:nvPr/>
        </p:nvSpPr>
        <p:spPr>
          <a:xfrm>
            <a:off x="685800" y="2095500"/>
            <a:ext cx="3238500" cy="2421636"/>
          </a:xfrm>
          <a:prstGeom prst="roundRect">
            <a:avLst/>
          </a:prstGeom>
          <a:solidFill>
            <a:srgbClr val="0F1226">
              <a:alpha val="78000"/>
            </a:srgbClr>
          </a:solidFill>
          <a:ln w="12700">
            <a:solidFill>
              <a:srgbClr val="C7D2FE">
                <a:alpha val="18000"/>
              </a:srgbClr>
            </a:solidFill>
          </a:ln>
        </p:spPr>
      </p:sp>
      <p:sp>
        <p:nvSpPr>
          <p:cNvPr id="31" name="Memory decay is invisible dot"/>
          <p:cNvSpPr/>
          <p:nvPr/>
        </p:nvSpPr>
        <p:spPr>
          <a:xfrm>
            <a:off x="895350" y="2324100"/>
            <a:ext cx="95250" cy="95250"/>
          </a:xfrm>
          <a:prstGeom prst="ellipse">
            <a:avLst/>
          </a:prstGeom>
          <a:solidFill>
            <a:srgbClr val="E2574C"/>
          </a:solidFill>
          <a:ln>
            <a:noFill/>
          </a:ln>
        </p:spPr>
      </p:sp>
      <p:sp>
        <p:nvSpPr>
          <p:cNvPr id="32" name="Memory decay is invisible heading"/>
          <p:cNvSpPr txBox="1"/>
          <p:nvPr/>
        </p:nvSpPr>
        <p:spPr>
          <a:xfrm>
            <a:off x="1085850" y="2247900"/>
            <a:ext cx="26289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1">
                <a:solidFill>
                  <a:srgbClr val="E2574C"/>
                </a:solidFill>
                <a:latin typeface="Aptos"/>
              </a:rPr>
              <a:t>Memory decay is invisible</a:t>
            </a:r>
            <a:endParaRPr sz="2000"/>
          </a:p>
        </p:txBody>
      </p:sp>
      <p:sp>
        <p:nvSpPr>
          <p:cNvPr id="33" name="Memory decay is invisible body"/>
          <p:cNvSpPr txBox="1"/>
          <p:nvPr/>
        </p:nvSpPr>
        <p:spPr>
          <a:xfrm>
            <a:off x="914400" y="2968371"/>
            <a:ext cx="2781300" cy="1123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dirty="0">
                <a:solidFill>
                  <a:srgbClr val="C7D2FE"/>
                </a:solidFill>
                <a:latin typeface="Aptos"/>
              </a:rPr>
              <a:t>Astraea turns elapsed time and review quality into clear retention states: Fresh, Fading, and At Risk.</a:t>
            </a:r>
            <a:endParaRPr sz="1600" dirty="0"/>
          </a:p>
        </p:txBody>
      </p:sp>
      <p:sp>
        <p:nvSpPr>
          <p:cNvPr id="40" name="Practice is fragmented card"/>
          <p:cNvSpPr/>
          <p:nvPr/>
        </p:nvSpPr>
        <p:spPr>
          <a:xfrm>
            <a:off x="4476750" y="2095500"/>
            <a:ext cx="3238500" cy="2421636"/>
          </a:xfrm>
          <a:prstGeom prst="roundRect">
            <a:avLst/>
          </a:prstGeom>
          <a:solidFill>
            <a:srgbClr val="0F1226">
              <a:alpha val="78000"/>
            </a:srgbClr>
          </a:solidFill>
          <a:ln w="12700">
            <a:solidFill>
              <a:srgbClr val="C7D2FE">
                <a:alpha val="18000"/>
              </a:srgbClr>
            </a:solidFill>
          </a:ln>
        </p:spPr>
      </p:sp>
      <p:sp>
        <p:nvSpPr>
          <p:cNvPr id="41" name="Practice is fragmented dot"/>
          <p:cNvSpPr/>
          <p:nvPr/>
        </p:nvSpPr>
        <p:spPr>
          <a:xfrm>
            <a:off x="4686300" y="2324100"/>
            <a:ext cx="95250" cy="95250"/>
          </a:xfrm>
          <a:prstGeom prst="ellipse">
            <a:avLst/>
          </a:prstGeom>
          <a:solidFill>
            <a:srgbClr val="FFB703"/>
          </a:solidFill>
          <a:ln>
            <a:noFill/>
          </a:ln>
        </p:spPr>
      </p:sp>
      <p:sp>
        <p:nvSpPr>
          <p:cNvPr id="42" name="Practice is fragmented heading"/>
          <p:cNvSpPr txBox="1"/>
          <p:nvPr/>
        </p:nvSpPr>
        <p:spPr>
          <a:xfrm>
            <a:off x="4876800" y="2247900"/>
            <a:ext cx="26289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1">
                <a:solidFill>
                  <a:srgbClr val="FFB703"/>
                </a:solidFill>
                <a:latin typeface="Aptos"/>
              </a:rPr>
              <a:t>Practice is fragmented</a:t>
            </a:r>
            <a:endParaRPr sz="2000"/>
          </a:p>
        </p:txBody>
      </p:sp>
      <p:sp>
        <p:nvSpPr>
          <p:cNvPr id="43" name="Practice is fragmented body"/>
          <p:cNvSpPr txBox="1"/>
          <p:nvPr/>
        </p:nvSpPr>
        <p:spPr>
          <a:xfrm>
            <a:off x="4705350" y="2968371"/>
            <a:ext cx="2781300" cy="1123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dirty="0">
                <a:solidFill>
                  <a:srgbClr val="C7D2FE"/>
                </a:solidFill>
                <a:latin typeface="Aptos"/>
              </a:rPr>
              <a:t>Manual study logs and GitHub practice signals are combined into one learner-owned skill timeline.</a:t>
            </a:r>
            <a:endParaRPr sz="1600" dirty="0"/>
          </a:p>
        </p:txBody>
      </p:sp>
      <p:sp>
        <p:nvSpPr>
          <p:cNvPr id="50" name="Mentoring needs boundaries card"/>
          <p:cNvSpPr/>
          <p:nvPr/>
        </p:nvSpPr>
        <p:spPr>
          <a:xfrm>
            <a:off x="8267700" y="2095500"/>
            <a:ext cx="3238500" cy="2421636"/>
          </a:xfrm>
          <a:prstGeom prst="roundRect">
            <a:avLst/>
          </a:prstGeom>
          <a:solidFill>
            <a:srgbClr val="0F1226">
              <a:alpha val="78000"/>
            </a:srgbClr>
          </a:solidFill>
          <a:ln w="12700">
            <a:solidFill>
              <a:srgbClr val="C7D2FE">
                <a:alpha val="18000"/>
              </a:srgbClr>
            </a:solidFill>
          </a:ln>
        </p:spPr>
      </p:sp>
      <p:sp>
        <p:nvSpPr>
          <p:cNvPr id="51" name="Mentoring needs boundaries dot"/>
          <p:cNvSpPr/>
          <p:nvPr/>
        </p:nvSpPr>
        <p:spPr>
          <a:xfrm>
            <a:off x="8477250" y="2324100"/>
            <a:ext cx="95250" cy="95250"/>
          </a:xfrm>
          <a:prstGeom prst="ellipse">
            <a:avLst/>
          </a:prstGeom>
          <a:solidFill>
            <a:srgbClr val="00F5D4"/>
          </a:solidFill>
          <a:ln>
            <a:noFill/>
          </a:ln>
        </p:spPr>
      </p:sp>
      <p:sp>
        <p:nvSpPr>
          <p:cNvPr id="52" name="Mentoring needs boundaries heading"/>
          <p:cNvSpPr txBox="1"/>
          <p:nvPr/>
        </p:nvSpPr>
        <p:spPr>
          <a:xfrm>
            <a:off x="8667750" y="2247900"/>
            <a:ext cx="26289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1" dirty="0">
                <a:solidFill>
                  <a:srgbClr val="00F5D4"/>
                </a:solidFill>
                <a:latin typeface="Aptos"/>
              </a:rPr>
              <a:t>Mentoring needs boundaries</a:t>
            </a:r>
            <a:endParaRPr sz="2000" dirty="0"/>
          </a:p>
        </p:txBody>
      </p:sp>
      <p:sp>
        <p:nvSpPr>
          <p:cNvPr id="53" name="Mentoring needs boundaries body"/>
          <p:cNvSpPr txBox="1"/>
          <p:nvPr/>
        </p:nvSpPr>
        <p:spPr>
          <a:xfrm>
            <a:off x="8591550" y="2968371"/>
            <a:ext cx="2781300" cy="1123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dirty="0">
                <a:solidFill>
                  <a:srgbClr val="C7D2FE"/>
                </a:solidFill>
                <a:latin typeface="Aptos"/>
              </a:rPr>
              <a:t>Mentors can observe progress and send reminders, but all learner data remains read-only.</a:t>
            </a:r>
            <a:endParaRPr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nebula-top"/>
          <p:cNvSpPr/>
          <p:nvPr/>
        </p:nvSpPr>
        <p:spPr>
          <a:xfrm>
            <a:off x="-857250" y="-1143000"/>
            <a:ext cx="4953000" cy="3429000"/>
          </a:xfrm>
          <a:prstGeom prst="ellipse">
            <a:avLst/>
          </a:prstGeom>
          <a:solidFill>
            <a:srgbClr val="6366F1">
              <a:alpha val="18000"/>
            </a:srgbClr>
          </a:solidFill>
          <a:ln>
            <a:noFill/>
          </a:ln>
        </p:spPr>
      </p:sp>
      <p:sp>
        <p:nvSpPr>
          <p:cNvPr id="3" name="nebula-right"/>
          <p:cNvSpPr/>
          <p:nvPr/>
        </p:nvSpPr>
        <p:spPr>
          <a:xfrm>
            <a:off x="8858250" y="762000"/>
            <a:ext cx="4381500" cy="4381500"/>
          </a:xfrm>
          <a:prstGeom prst="ellipse">
            <a:avLst/>
          </a:prstGeom>
          <a:solidFill>
            <a:srgbClr val="00F5D4">
              <a:alpha val="10000"/>
            </a:srgbClr>
          </a:solidFill>
          <a:ln>
            <a:noFill/>
          </a:ln>
        </p:spPr>
      </p:sp>
      <p:sp>
        <p:nvSpPr>
          <p:cNvPr id="500" name="star-0"/>
          <p:cNvSpPr/>
          <p:nvPr/>
        </p:nvSpPr>
        <p:spPr>
          <a:xfrm>
            <a:off x="514350" y="838200"/>
            <a:ext cx="38100" cy="38100"/>
          </a:xfrm>
          <a:prstGeom prst="ellipse">
            <a:avLst/>
          </a:prstGeom>
          <a:solidFill>
            <a:srgbClr val="00F5D4">
              <a:alpha val="85000"/>
            </a:srgbClr>
          </a:solidFill>
          <a:ln>
            <a:noFill/>
          </a:ln>
        </p:spPr>
      </p:sp>
      <p:sp>
        <p:nvSpPr>
          <p:cNvPr id="501" name="star-1"/>
          <p:cNvSpPr/>
          <p:nvPr/>
        </p:nvSpPr>
        <p:spPr>
          <a:xfrm>
            <a:off x="1752600" y="590550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02" name="star-2"/>
          <p:cNvSpPr/>
          <p:nvPr/>
        </p:nvSpPr>
        <p:spPr>
          <a:xfrm>
            <a:off x="2362200" y="99060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03" name="star-3"/>
          <p:cNvSpPr/>
          <p:nvPr/>
        </p:nvSpPr>
        <p:spPr>
          <a:xfrm>
            <a:off x="3943350" y="5219700"/>
            <a:ext cx="38100" cy="38100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04" name="star-4"/>
          <p:cNvSpPr/>
          <p:nvPr/>
        </p:nvSpPr>
        <p:spPr>
          <a:xfrm>
            <a:off x="4533900" y="685800"/>
            <a:ext cx="28575" cy="28575"/>
          </a:xfrm>
          <a:prstGeom prst="ellipse">
            <a:avLst/>
          </a:prstGeom>
          <a:solidFill>
            <a:srgbClr val="00F5D4">
              <a:alpha val="85000"/>
            </a:srgbClr>
          </a:solidFill>
          <a:ln>
            <a:noFill/>
          </a:ln>
        </p:spPr>
      </p:sp>
      <p:sp>
        <p:nvSpPr>
          <p:cNvPr id="505" name="star-5"/>
          <p:cNvSpPr/>
          <p:nvPr/>
        </p:nvSpPr>
        <p:spPr>
          <a:xfrm>
            <a:off x="5829300" y="607695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06" name="star-6"/>
          <p:cNvSpPr/>
          <p:nvPr/>
        </p:nvSpPr>
        <p:spPr>
          <a:xfrm>
            <a:off x="7067550" y="1200150"/>
            <a:ext cx="38100" cy="38100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07" name="star-7"/>
          <p:cNvSpPr/>
          <p:nvPr/>
        </p:nvSpPr>
        <p:spPr>
          <a:xfrm>
            <a:off x="8782050" y="567690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08" name="star-8"/>
          <p:cNvSpPr/>
          <p:nvPr/>
        </p:nvSpPr>
        <p:spPr>
          <a:xfrm>
            <a:off x="10172700" y="876300"/>
            <a:ext cx="28575" cy="28575"/>
          </a:xfrm>
          <a:prstGeom prst="ellipse">
            <a:avLst/>
          </a:prstGeom>
          <a:solidFill>
            <a:srgbClr val="00F5D4">
              <a:alpha val="85000"/>
            </a:srgbClr>
          </a:solidFill>
          <a:ln>
            <a:noFill/>
          </a:ln>
        </p:spPr>
      </p:sp>
      <p:sp>
        <p:nvSpPr>
          <p:cNvPr id="509" name="star-9"/>
          <p:cNvSpPr/>
          <p:nvPr/>
        </p:nvSpPr>
        <p:spPr>
          <a:xfrm>
            <a:off x="11315700" y="6115050"/>
            <a:ext cx="38100" cy="38100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10" name="star-10"/>
          <p:cNvSpPr/>
          <p:nvPr/>
        </p:nvSpPr>
        <p:spPr>
          <a:xfrm>
            <a:off x="11525250" y="213360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11" name="star-11"/>
          <p:cNvSpPr/>
          <p:nvPr/>
        </p:nvSpPr>
        <p:spPr>
          <a:xfrm>
            <a:off x="819150" y="384810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12" name="star-12"/>
          <p:cNvSpPr/>
          <p:nvPr/>
        </p:nvSpPr>
        <p:spPr>
          <a:xfrm>
            <a:off x="9639300" y="3429000"/>
            <a:ext cx="38100" cy="38100"/>
          </a:xfrm>
          <a:prstGeom prst="ellipse">
            <a:avLst/>
          </a:prstGeom>
          <a:solidFill>
            <a:srgbClr val="00F5D4">
              <a:alpha val="85000"/>
            </a:srgbClr>
          </a:solidFill>
          <a:ln>
            <a:noFill/>
          </a:ln>
        </p:spPr>
      </p:sp>
      <p:sp>
        <p:nvSpPr>
          <p:cNvPr id="513" name="star-13"/>
          <p:cNvSpPr/>
          <p:nvPr/>
        </p:nvSpPr>
        <p:spPr>
          <a:xfrm>
            <a:off x="6762750" y="483870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20" name="slide-number"/>
          <p:cNvSpPr txBox="1"/>
          <p:nvPr/>
        </p:nvSpPr>
        <p:spPr>
          <a:xfrm>
            <a:off x="10839450" y="400050"/>
            <a:ext cx="666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en-US" sz="1400" b="1">
                <a:solidFill>
                  <a:srgbClr val="94A3B8"/>
                </a:solidFill>
                <a:latin typeface="Aptos"/>
              </a:rPr>
              <a:t>03</a:t>
            </a:r>
            <a:endParaRPr sz="1400"/>
          </a:p>
        </p:txBody>
      </p:sp>
      <p:sp>
        <p:nvSpPr>
          <p:cNvPr id="21" name="eyebrow"/>
          <p:cNvSpPr txBox="1"/>
          <p:nvPr/>
        </p:nvSpPr>
        <p:spPr>
          <a:xfrm>
            <a:off x="685800" y="400050"/>
            <a:ext cx="15240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400" b="1">
                <a:solidFill>
                  <a:srgbClr val="00F5D4"/>
                </a:solidFill>
                <a:latin typeface="Aptos"/>
              </a:rPr>
              <a:t>ASTRAEA</a:t>
            </a:r>
            <a:endParaRPr sz="1400"/>
          </a:p>
        </p:txBody>
      </p:sp>
      <p:sp>
        <p:nvSpPr>
          <p:cNvPr id="22" name="title"/>
          <p:cNvSpPr txBox="1"/>
          <p:nvPr/>
        </p:nvSpPr>
        <p:spPr>
          <a:xfrm>
            <a:off x="685800" y="800100"/>
            <a:ext cx="78105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600" b="1">
                <a:solidFill>
                  <a:srgbClr val="C7D2FE"/>
                </a:solidFill>
                <a:latin typeface="Aptos"/>
              </a:rPr>
              <a:t>Feature Suite</a:t>
            </a:r>
            <a:endParaRPr sz="3600"/>
          </a:p>
        </p:txBody>
      </p:sp>
      <p:sp>
        <p:nvSpPr>
          <p:cNvPr id="23" name="subtitle"/>
          <p:cNvSpPr txBox="1"/>
          <p:nvPr/>
        </p:nvSpPr>
        <p:spPr>
          <a:xfrm>
            <a:off x="704850" y="1390650"/>
            <a:ext cx="72390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94A3B8"/>
                </a:solidFill>
                <a:latin typeface="Aptos"/>
              </a:rPr>
              <a:t>Astraea covers the complete learner loop from skill creation to reminders and reports.</a:t>
            </a:r>
            <a:endParaRPr sz="1600"/>
          </a:p>
        </p:txBody>
      </p:sp>
      <p:sp>
        <p:nvSpPr>
          <p:cNvPr id="60" name="Celestial Map card"/>
          <p:cNvSpPr/>
          <p:nvPr/>
        </p:nvSpPr>
        <p:spPr>
          <a:xfrm>
            <a:off x="685800" y="2000250"/>
            <a:ext cx="2524125" cy="1676400"/>
          </a:xfrm>
          <a:prstGeom prst="roundRect">
            <a:avLst/>
          </a:prstGeom>
          <a:solidFill>
            <a:srgbClr val="0F1226">
              <a:alpha val="78000"/>
            </a:srgbClr>
          </a:solidFill>
          <a:ln w="12700">
            <a:solidFill>
              <a:srgbClr val="C7D2FE">
                <a:alpha val="18000"/>
              </a:srgbClr>
            </a:solidFill>
          </a:ln>
        </p:spPr>
      </p:sp>
      <p:sp>
        <p:nvSpPr>
          <p:cNvPr id="61" name="Celestial Map dot"/>
          <p:cNvSpPr/>
          <p:nvPr/>
        </p:nvSpPr>
        <p:spPr>
          <a:xfrm>
            <a:off x="895350" y="2228850"/>
            <a:ext cx="95250" cy="95250"/>
          </a:xfrm>
          <a:prstGeom prst="ellipse">
            <a:avLst/>
          </a:prstGeom>
          <a:solidFill>
            <a:srgbClr val="00F5D4"/>
          </a:solidFill>
          <a:ln>
            <a:noFill/>
          </a:ln>
        </p:spPr>
      </p:sp>
      <p:sp>
        <p:nvSpPr>
          <p:cNvPr id="62" name="Celestial Map heading"/>
          <p:cNvSpPr txBox="1"/>
          <p:nvPr/>
        </p:nvSpPr>
        <p:spPr>
          <a:xfrm>
            <a:off x="1085850" y="2152650"/>
            <a:ext cx="1914525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1">
                <a:solidFill>
                  <a:srgbClr val="00F5D4"/>
                </a:solidFill>
                <a:latin typeface="Aptos"/>
              </a:rPr>
              <a:t>Celestial Map</a:t>
            </a:r>
            <a:endParaRPr sz="2000"/>
          </a:p>
        </p:txBody>
      </p:sp>
      <p:sp>
        <p:nvSpPr>
          <p:cNvPr id="63" name="Celestial Map body"/>
          <p:cNvSpPr txBox="1"/>
          <p:nvPr/>
        </p:nvSpPr>
        <p:spPr>
          <a:xfrm>
            <a:off x="914400" y="2552700"/>
            <a:ext cx="2066925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dirty="0">
                <a:solidFill>
                  <a:srgbClr val="C7D2FE"/>
                </a:solidFill>
                <a:latin typeface="Aptos"/>
              </a:rPr>
              <a:t>Animated HTML5 Canvas stars grouped by constellation category.</a:t>
            </a:r>
            <a:endParaRPr sz="1600" dirty="0"/>
          </a:p>
        </p:txBody>
      </p:sp>
      <p:sp>
        <p:nvSpPr>
          <p:cNvPr id="70" name="Retention Engine card"/>
          <p:cNvSpPr/>
          <p:nvPr/>
        </p:nvSpPr>
        <p:spPr>
          <a:xfrm>
            <a:off x="3495675" y="2000250"/>
            <a:ext cx="2524125" cy="1676400"/>
          </a:xfrm>
          <a:prstGeom prst="roundRect">
            <a:avLst/>
          </a:prstGeom>
          <a:solidFill>
            <a:srgbClr val="0F1226">
              <a:alpha val="78000"/>
            </a:srgbClr>
          </a:solidFill>
          <a:ln w="12700">
            <a:solidFill>
              <a:srgbClr val="C7D2FE">
                <a:alpha val="18000"/>
              </a:srgbClr>
            </a:solidFill>
          </a:ln>
        </p:spPr>
      </p:sp>
      <p:sp>
        <p:nvSpPr>
          <p:cNvPr id="71" name="Retention Engine dot"/>
          <p:cNvSpPr/>
          <p:nvPr/>
        </p:nvSpPr>
        <p:spPr>
          <a:xfrm>
            <a:off x="3705225" y="2228850"/>
            <a:ext cx="95250" cy="95250"/>
          </a:xfrm>
          <a:prstGeom prst="ellipse">
            <a:avLst/>
          </a:prstGeom>
          <a:solidFill>
            <a:srgbClr val="FFB703"/>
          </a:solidFill>
          <a:ln>
            <a:noFill/>
          </a:ln>
        </p:spPr>
      </p:sp>
      <p:sp>
        <p:nvSpPr>
          <p:cNvPr id="72" name="Retention Engine heading"/>
          <p:cNvSpPr txBox="1"/>
          <p:nvPr/>
        </p:nvSpPr>
        <p:spPr>
          <a:xfrm>
            <a:off x="3895725" y="2152650"/>
            <a:ext cx="1914525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b="1" dirty="0" smtClean="0">
                <a:solidFill>
                  <a:srgbClr val="FFB703"/>
                </a:solidFill>
                <a:latin typeface="Aptos"/>
              </a:rPr>
              <a:t>Retention Engine</a:t>
            </a:r>
            <a:endParaRPr dirty="0"/>
          </a:p>
        </p:txBody>
      </p:sp>
      <p:sp>
        <p:nvSpPr>
          <p:cNvPr id="73" name="Retention Engine body"/>
          <p:cNvSpPr txBox="1"/>
          <p:nvPr/>
        </p:nvSpPr>
        <p:spPr>
          <a:xfrm>
            <a:off x="3765042" y="2555176"/>
            <a:ext cx="2066925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dirty="0">
                <a:solidFill>
                  <a:srgbClr val="C7D2FE"/>
                </a:solidFill>
                <a:latin typeface="Aptos"/>
              </a:rPr>
              <a:t>SM-2-style ease factor and interval updates power review scheduling.</a:t>
            </a:r>
            <a:endParaRPr sz="1600" dirty="0"/>
          </a:p>
        </p:txBody>
      </p:sp>
      <p:sp>
        <p:nvSpPr>
          <p:cNvPr id="80" name="Reports card"/>
          <p:cNvSpPr/>
          <p:nvPr/>
        </p:nvSpPr>
        <p:spPr>
          <a:xfrm>
            <a:off x="6305550" y="2000250"/>
            <a:ext cx="2524125" cy="1743075"/>
          </a:xfrm>
          <a:prstGeom prst="roundRect">
            <a:avLst/>
          </a:prstGeom>
          <a:solidFill>
            <a:srgbClr val="0F1226">
              <a:alpha val="78000"/>
            </a:srgbClr>
          </a:solidFill>
          <a:ln w="12700">
            <a:solidFill>
              <a:srgbClr val="C7D2FE">
                <a:alpha val="18000"/>
              </a:srgbClr>
            </a:solidFill>
          </a:ln>
        </p:spPr>
      </p:sp>
      <p:sp>
        <p:nvSpPr>
          <p:cNvPr id="81" name="Reports dot"/>
          <p:cNvSpPr/>
          <p:nvPr/>
        </p:nvSpPr>
        <p:spPr>
          <a:xfrm>
            <a:off x="6515100" y="2228850"/>
            <a:ext cx="95250" cy="95250"/>
          </a:xfrm>
          <a:prstGeom prst="ellipse">
            <a:avLst/>
          </a:prstGeom>
          <a:solidFill>
            <a:srgbClr val="00F5D4"/>
          </a:solidFill>
          <a:ln>
            <a:noFill/>
          </a:ln>
        </p:spPr>
      </p:sp>
      <p:sp>
        <p:nvSpPr>
          <p:cNvPr id="82" name="Reports heading"/>
          <p:cNvSpPr txBox="1"/>
          <p:nvPr/>
        </p:nvSpPr>
        <p:spPr>
          <a:xfrm>
            <a:off x="6705600" y="2152650"/>
            <a:ext cx="1914525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1">
                <a:solidFill>
                  <a:srgbClr val="00F5D4"/>
                </a:solidFill>
                <a:latin typeface="Aptos"/>
              </a:rPr>
              <a:t>Reports</a:t>
            </a:r>
            <a:endParaRPr sz="2000"/>
          </a:p>
        </p:txBody>
      </p:sp>
      <p:sp>
        <p:nvSpPr>
          <p:cNvPr id="83" name="Reports body"/>
          <p:cNvSpPr txBox="1"/>
          <p:nvPr/>
        </p:nvSpPr>
        <p:spPr>
          <a:xfrm>
            <a:off x="6534150" y="2552700"/>
            <a:ext cx="2066925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400" dirty="0">
                <a:solidFill>
                  <a:srgbClr val="C7D2FE"/>
                </a:solidFill>
                <a:latin typeface="Aptos"/>
              </a:rPr>
              <a:t>Retention table, trend graph, bar chart, monthly reviews, streaks, and CSV export.</a:t>
            </a:r>
            <a:endParaRPr sz="1400" dirty="0"/>
          </a:p>
        </p:txBody>
      </p:sp>
      <p:sp>
        <p:nvSpPr>
          <p:cNvPr id="90" name="The Abyss card"/>
          <p:cNvSpPr/>
          <p:nvPr/>
        </p:nvSpPr>
        <p:spPr>
          <a:xfrm>
            <a:off x="9115425" y="2000250"/>
            <a:ext cx="2524125" cy="1743075"/>
          </a:xfrm>
          <a:prstGeom prst="roundRect">
            <a:avLst/>
          </a:prstGeom>
          <a:solidFill>
            <a:srgbClr val="0F1226">
              <a:alpha val="78000"/>
            </a:srgbClr>
          </a:solidFill>
          <a:ln w="12700">
            <a:solidFill>
              <a:srgbClr val="C7D2FE">
                <a:alpha val="18000"/>
              </a:srgbClr>
            </a:solidFill>
          </a:ln>
        </p:spPr>
      </p:sp>
      <p:sp>
        <p:nvSpPr>
          <p:cNvPr id="91" name="The Abyss dot"/>
          <p:cNvSpPr/>
          <p:nvPr/>
        </p:nvSpPr>
        <p:spPr>
          <a:xfrm>
            <a:off x="9324975" y="2228850"/>
            <a:ext cx="95250" cy="95250"/>
          </a:xfrm>
          <a:prstGeom prst="ellipse">
            <a:avLst/>
          </a:prstGeom>
          <a:solidFill>
            <a:srgbClr val="E2574C"/>
          </a:solidFill>
          <a:ln>
            <a:noFill/>
          </a:ln>
        </p:spPr>
      </p:sp>
      <p:sp>
        <p:nvSpPr>
          <p:cNvPr id="92" name="The Abyss heading"/>
          <p:cNvSpPr txBox="1"/>
          <p:nvPr/>
        </p:nvSpPr>
        <p:spPr>
          <a:xfrm>
            <a:off x="9515475" y="2152650"/>
            <a:ext cx="1914525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1">
                <a:solidFill>
                  <a:srgbClr val="E2574C"/>
                </a:solidFill>
                <a:latin typeface="Aptos"/>
              </a:rPr>
              <a:t>The Abyss</a:t>
            </a:r>
            <a:endParaRPr sz="2000"/>
          </a:p>
        </p:txBody>
      </p:sp>
      <p:sp>
        <p:nvSpPr>
          <p:cNvPr id="93" name="The Abyss body"/>
          <p:cNvSpPr txBox="1"/>
          <p:nvPr/>
        </p:nvSpPr>
        <p:spPr>
          <a:xfrm>
            <a:off x="9344025" y="2552700"/>
            <a:ext cx="2066925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C7D2FE"/>
                </a:solidFill>
                <a:latin typeface="Aptos"/>
              </a:rPr>
              <a:t>Archived skills persist until the learner explicitly clears them.</a:t>
            </a:r>
            <a:endParaRPr sz="1600"/>
          </a:p>
        </p:txBody>
      </p:sp>
      <p:sp>
        <p:nvSpPr>
          <p:cNvPr id="100" name="GitHub Integration card"/>
          <p:cNvSpPr/>
          <p:nvPr/>
        </p:nvSpPr>
        <p:spPr>
          <a:xfrm>
            <a:off x="2686050" y="3857625"/>
            <a:ext cx="3143250" cy="1519047"/>
          </a:xfrm>
          <a:prstGeom prst="roundRect">
            <a:avLst/>
          </a:prstGeom>
          <a:solidFill>
            <a:srgbClr val="0F1226">
              <a:alpha val="78000"/>
            </a:srgbClr>
          </a:solidFill>
          <a:ln w="12700">
            <a:solidFill>
              <a:srgbClr val="C7D2FE">
                <a:alpha val="18000"/>
              </a:srgbClr>
            </a:solidFill>
          </a:ln>
        </p:spPr>
      </p:sp>
      <p:sp>
        <p:nvSpPr>
          <p:cNvPr id="101" name="GitHub Integration dot"/>
          <p:cNvSpPr/>
          <p:nvPr/>
        </p:nvSpPr>
        <p:spPr>
          <a:xfrm>
            <a:off x="2895600" y="4086225"/>
            <a:ext cx="95250" cy="95250"/>
          </a:xfrm>
          <a:prstGeom prst="ellipse">
            <a:avLst/>
          </a:prstGeom>
          <a:solidFill>
            <a:srgbClr val="00F5D4"/>
          </a:solidFill>
          <a:ln>
            <a:noFill/>
          </a:ln>
        </p:spPr>
      </p:sp>
      <p:sp>
        <p:nvSpPr>
          <p:cNvPr id="102" name="GitHub Integration heading"/>
          <p:cNvSpPr txBox="1"/>
          <p:nvPr/>
        </p:nvSpPr>
        <p:spPr>
          <a:xfrm>
            <a:off x="3086100" y="4010025"/>
            <a:ext cx="25336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1">
                <a:solidFill>
                  <a:srgbClr val="00F5D4"/>
                </a:solidFill>
                <a:latin typeface="Aptos"/>
              </a:rPr>
              <a:t>GitHub Integration</a:t>
            </a:r>
            <a:endParaRPr sz="2000"/>
          </a:p>
        </p:txBody>
      </p:sp>
      <p:sp>
        <p:nvSpPr>
          <p:cNvPr id="103" name="GitHub Integration body"/>
          <p:cNvSpPr txBox="1"/>
          <p:nvPr/>
        </p:nvSpPr>
        <p:spPr>
          <a:xfrm>
            <a:off x="2914650" y="4410075"/>
            <a:ext cx="2686050" cy="600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dirty="0">
                <a:solidFill>
                  <a:srgbClr val="C7D2FE"/>
                </a:solidFill>
                <a:latin typeface="Aptos"/>
              </a:rPr>
              <a:t>OAuth verifies ownership; repository activity becomes practice signals.</a:t>
            </a:r>
            <a:endParaRPr sz="1600" dirty="0"/>
          </a:p>
        </p:txBody>
      </p:sp>
      <p:sp>
        <p:nvSpPr>
          <p:cNvPr id="110" name="Mentor Workspace card"/>
          <p:cNvSpPr/>
          <p:nvPr/>
        </p:nvSpPr>
        <p:spPr>
          <a:xfrm>
            <a:off x="6276975" y="3859910"/>
            <a:ext cx="3143250" cy="1514475"/>
          </a:xfrm>
          <a:prstGeom prst="roundRect">
            <a:avLst/>
          </a:prstGeom>
          <a:solidFill>
            <a:srgbClr val="0F1226">
              <a:alpha val="78000"/>
            </a:srgbClr>
          </a:solidFill>
          <a:ln w="12700">
            <a:solidFill>
              <a:srgbClr val="C7D2FE">
                <a:alpha val="18000"/>
              </a:srgbClr>
            </a:solidFill>
          </a:ln>
        </p:spPr>
      </p:sp>
      <p:sp>
        <p:nvSpPr>
          <p:cNvPr id="111" name="Mentor Workspace dot"/>
          <p:cNvSpPr/>
          <p:nvPr/>
        </p:nvSpPr>
        <p:spPr>
          <a:xfrm>
            <a:off x="6550152" y="4086225"/>
            <a:ext cx="95250" cy="95250"/>
          </a:xfrm>
          <a:prstGeom prst="ellipse">
            <a:avLst/>
          </a:prstGeom>
          <a:solidFill>
            <a:srgbClr val="FFB703"/>
          </a:solidFill>
          <a:ln>
            <a:noFill/>
          </a:ln>
        </p:spPr>
      </p:sp>
      <p:sp>
        <p:nvSpPr>
          <p:cNvPr id="112" name="Mentor Workspace heading"/>
          <p:cNvSpPr txBox="1"/>
          <p:nvPr/>
        </p:nvSpPr>
        <p:spPr>
          <a:xfrm>
            <a:off x="6753225" y="3992118"/>
            <a:ext cx="25336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1" dirty="0">
                <a:solidFill>
                  <a:srgbClr val="FFB703"/>
                </a:solidFill>
                <a:latin typeface="Aptos"/>
              </a:rPr>
              <a:t>Mentor Workspace</a:t>
            </a:r>
            <a:endParaRPr sz="2000" dirty="0"/>
          </a:p>
        </p:txBody>
      </p:sp>
      <p:sp>
        <p:nvSpPr>
          <p:cNvPr id="113" name="Mentor Workspace body"/>
          <p:cNvSpPr txBox="1"/>
          <p:nvPr/>
        </p:nvSpPr>
        <p:spPr>
          <a:xfrm>
            <a:off x="6505575" y="4303967"/>
            <a:ext cx="2686050" cy="600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dirty="0">
                <a:solidFill>
                  <a:srgbClr val="C7D2FE"/>
                </a:solidFill>
                <a:latin typeface="Aptos"/>
              </a:rPr>
              <a:t>Invitation inbox, mentee list, observer view, and fading-skill reminders.</a:t>
            </a:r>
            <a:endParaRPr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nebula-top"/>
          <p:cNvSpPr/>
          <p:nvPr/>
        </p:nvSpPr>
        <p:spPr>
          <a:xfrm>
            <a:off x="-857250" y="-1143000"/>
            <a:ext cx="4953000" cy="3429000"/>
          </a:xfrm>
          <a:prstGeom prst="ellipse">
            <a:avLst/>
          </a:prstGeom>
          <a:solidFill>
            <a:srgbClr val="6366F1">
              <a:alpha val="18000"/>
            </a:srgbClr>
          </a:solidFill>
          <a:ln>
            <a:noFill/>
          </a:ln>
        </p:spPr>
      </p:sp>
      <p:sp>
        <p:nvSpPr>
          <p:cNvPr id="3" name="nebula-right"/>
          <p:cNvSpPr/>
          <p:nvPr/>
        </p:nvSpPr>
        <p:spPr>
          <a:xfrm>
            <a:off x="8858250" y="762000"/>
            <a:ext cx="4381500" cy="4381500"/>
          </a:xfrm>
          <a:prstGeom prst="ellipse">
            <a:avLst/>
          </a:prstGeom>
          <a:solidFill>
            <a:srgbClr val="00F5D4">
              <a:alpha val="10000"/>
            </a:srgbClr>
          </a:solidFill>
          <a:ln>
            <a:noFill/>
          </a:ln>
        </p:spPr>
      </p:sp>
      <p:sp>
        <p:nvSpPr>
          <p:cNvPr id="500" name="star-0"/>
          <p:cNvSpPr/>
          <p:nvPr/>
        </p:nvSpPr>
        <p:spPr>
          <a:xfrm>
            <a:off x="514350" y="838200"/>
            <a:ext cx="38100" cy="38100"/>
          </a:xfrm>
          <a:prstGeom prst="ellipse">
            <a:avLst/>
          </a:prstGeom>
          <a:solidFill>
            <a:srgbClr val="00F5D4">
              <a:alpha val="85000"/>
            </a:srgbClr>
          </a:solidFill>
          <a:ln>
            <a:noFill/>
          </a:ln>
        </p:spPr>
      </p:sp>
      <p:sp>
        <p:nvSpPr>
          <p:cNvPr id="501" name="star-1"/>
          <p:cNvSpPr/>
          <p:nvPr/>
        </p:nvSpPr>
        <p:spPr>
          <a:xfrm>
            <a:off x="1752600" y="590550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02" name="star-2"/>
          <p:cNvSpPr/>
          <p:nvPr/>
        </p:nvSpPr>
        <p:spPr>
          <a:xfrm>
            <a:off x="2362200" y="99060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03" name="star-3"/>
          <p:cNvSpPr/>
          <p:nvPr/>
        </p:nvSpPr>
        <p:spPr>
          <a:xfrm>
            <a:off x="3352800" y="5219700"/>
            <a:ext cx="38100" cy="38100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04" name="star-4"/>
          <p:cNvSpPr/>
          <p:nvPr/>
        </p:nvSpPr>
        <p:spPr>
          <a:xfrm>
            <a:off x="4533900" y="685800"/>
            <a:ext cx="28575" cy="28575"/>
          </a:xfrm>
          <a:prstGeom prst="ellipse">
            <a:avLst/>
          </a:prstGeom>
          <a:solidFill>
            <a:srgbClr val="00F5D4">
              <a:alpha val="85000"/>
            </a:srgbClr>
          </a:solidFill>
          <a:ln>
            <a:noFill/>
          </a:ln>
        </p:spPr>
      </p:sp>
      <p:sp>
        <p:nvSpPr>
          <p:cNvPr id="505" name="star-5"/>
          <p:cNvSpPr/>
          <p:nvPr/>
        </p:nvSpPr>
        <p:spPr>
          <a:xfrm>
            <a:off x="5829300" y="607695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06" name="star-6"/>
          <p:cNvSpPr/>
          <p:nvPr/>
        </p:nvSpPr>
        <p:spPr>
          <a:xfrm>
            <a:off x="7067550" y="1200150"/>
            <a:ext cx="38100" cy="38100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07" name="star-7"/>
          <p:cNvSpPr/>
          <p:nvPr/>
        </p:nvSpPr>
        <p:spPr>
          <a:xfrm>
            <a:off x="8782050" y="567690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08" name="star-8"/>
          <p:cNvSpPr/>
          <p:nvPr/>
        </p:nvSpPr>
        <p:spPr>
          <a:xfrm>
            <a:off x="10172700" y="876300"/>
            <a:ext cx="28575" cy="28575"/>
          </a:xfrm>
          <a:prstGeom prst="ellipse">
            <a:avLst/>
          </a:prstGeom>
          <a:solidFill>
            <a:srgbClr val="00F5D4">
              <a:alpha val="85000"/>
            </a:srgbClr>
          </a:solidFill>
          <a:ln>
            <a:noFill/>
          </a:ln>
        </p:spPr>
      </p:sp>
      <p:sp>
        <p:nvSpPr>
          <p:cNvPr id="509" name="star-9"/>
          <p:cNvSpPr/>
          <p:nvPr/>
        </p:nvSpPr>
        <p:spPr>
          <a:xfrm>
            <a:off x="11315700" y="6115050"/>
            <a:ext cx="38100" cy="38100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10" name="star-10"/>
          <p:cNvSpPr/>
          <p:nvPr/>
        </p:nvSpPr>
        <p:spPr>
          <a:xfrm>
            <a:off x="11525250" y="213360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11" name="star-11"/>
          <p:cNvSpPr/>
          <p:nvPr/>
        </p:nvSpPr>
        <p:spPr>
          <a:xfrm>
            <a:off x="819150" y="384810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12" name="star-12"/>
          <p:cNvSpPr/>
          <p:nvPr/>
        </p:nvSpPr>
        <p:spPr>
          <a:xfrm>
            <a:off x="9639300" y="3429000"/>
            <a:ext cx="38100" cy="38100"/>
          </a:xfrm>
          <a:prstGeom prst="ellipse">
            <a:avLst/>
          </a:prstGeom>
          <a:solidFill>
            <a:srgbClr val="00F5D4">
              <a:alpha val="85000"/>
            </a:srgbClr>
          </a:solidFill>
          <a:ln>
            <a:noFill/>
          </a:ln>
        </p:spPr>
      </p:sp>
      <p:sp>
        <p:nvSpPr>
          <p:cNvPr id="513" name="star-13"/>
          <p:cNvSpPr/>
          <p:nvPr/>
        </p:nvSpPr>
        <p:spPr>
          <a:xfrm>
            <a:off x="6762750" y="483870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20" name="slide-number"/>
          <p:cNvSpPr txBox="1"/>
          <p:nvPr/>
        </p:nvSpPr>
        <p:spPr>
          <a:xfrm>
            <a:off x="10839450" y="400050"/>
            <a:ext cx="666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en-US" sz="1400" b="1">
                <a:solidFill>
                  <a:srgbClr val="94A3B8"/>
                </a:solidFill>
                <a:latin typeface="Aptos"/>
              </a:rPr>
              <a:t>04</a:t>
            </a:r>
            <a:endParaRPr sz="1400"/>
          </a:p>
        </p:txBody>
      </p:sp>
      <p:sp>
        <p:nvSpPr>
          <p:cNvPr id="21" name="eyebrow"/>
          <p:cNvSpPr txBox="1"/>
          <p:nvPr/>
        </p:nvSpPr>
        <p:spPr>
          <a:xfrm>
            <a:off x="685800" y="400050"/>
            <a:ext cx="15240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400" b="1">
                <a:solidFill>
                  <a:srgbClr val="00F5D4"/>
                </a:solidFill>
                <a:latin typeface="Aptos"/>
              </a:rPr>
              <a:t>ASTRAEA</a:t>
            </a:r>
            <a:endParaRPr sz="1400"/>
          </a:p>
        </p:txBody>
      </p:sp>
      <p:sp>
        <p:nvSpPr>
          <p:cNvPr id="22" name="title"/>
          <p:cNvSpPr txBox="1"/>
          <p:nvPr/>
        </p:nvSpPr>
        <p:spPr>
          <a:xfrm>
            <a:off x="685800" y="800100"/>
            <a:ext cx="78105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600" b="1">
                <a:solidFill>
                  <a:srgbClr val="C7D2FE"/>
                </a:solidFill>
                <a:latin typeface="Aptos"/>
              </a:rPr>
              <a:t>Learner Journey</a:t>
            </a:r>
            <a:endParaRPr sz="3600"/>
          </a:p>
        </p:txBody>
      </p:sp>
      <p:sp>
        <p:nvSpPr>
          <p:cNvPr id="23" name="subtitle"/>
          <p:cNvSpPr txBox="1"/>
          <p:nvPr/>
        </p:nvSpPr>
        <p:spPr>
          <a:xfrm>
            <a:off x="704850" y="1390650"/>
            <a:ext cx="72390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94A3B8"/>
                </a:solidFill>
                <a:latin typeface="Aptos"/>
              </a:rPr>
              <a:t>The learner experience is centered on ownership, visibility, and review momentum.</a:t>
            </a:r>
            <a:endParaRPr sz="1600"/>
          </a:p>
        </p:txBody>
      </p:sp>
      <p:cxnSp>
        <p:nvCxnSpPr>
          <p:cNvPr id="120" name="flowline"/>
          <p:cNvCxnSpPr/>
          <p:nvPr/>
        </p:nvCxnSpPr>
        <p:spPr>
          <a:xfrm>
            <a:off x="1600200" y="3467100"/>
            <a:ext cx="8991600" cy="9525"/>
          </a:xfrm>
          <a:prstGeom prst="line">
            <a:avLst/>
          </a:prstGeom>
          <a:ln w="38100">
            <a:solidFill>
              <a:srgbClr val="00F5D4"/>
            </a:solidFill>
          </a:ln>
        </p:spPr>
      </p:cxnSp>
      <p:sp>
        <p:nvSpPr>
          <p:cNvPr id="121" name="1. Register card"/>
          <p:cNvSpPr/>
          <p:nvPr/>
        </p:nvSpPr>
        <p:spPr>
          <a:xfrm>
            <a:off x="685800" y="2476500"/>
            <a:ext cx="2047875" cy="1666875"/>
          </a:xfrm>
          <a:prstGeom prst="roundRect">
            <a:avLst/>
          </a:prstGeom>
          <a:solidFill>
            <a:srgbClr val="0F1226">
              <a:alpha val="78000"/>
            </a:srgbClr>
          </a:solidFill>
          <a:ln w="12700">
            <a:solidFill>
              <a:srgbClr val="C7D2FE">
                <a:alpha val="18000"/>
              </a:srgbClr>
            </a:solidFill>
          </a:ln>
        </p:spPr>
      </p:sp>
      <p:sp>
        <p:nvSpPr>
          <p:cNvPr id="122" name="1. Register dot"/>
          <p:cNvSpPr/>
          <p:nvPr/>
        </p:nvSpPr>
        <p:spPr>
          <a:xfrm>
            <a:off x="895350" y="2705100"/>
            <a:ext cx="95250" cy="95250"/>
          </a:xfrm>
          <a:prstGeom prst="ellipse">
            <a:avLst/>
          </a:prstGeom>
          <a:solidFill>
            <a:srgbClr val="00F5D4"/>
          </a:solidFill>
          <a:ln>
            <a:noFill/>
          </a:ln>
        </p:spPr>
      </p:sp>
      <p:sp>
        <p:nvSpPr>
          <p:cNvPr id="123" name="1. Register heading"/>
          <p:cNvSpPr txBox="1"/>
          <p:nvPr/>
        </p:nvSpPr>
        <p:spPr>
          <a:xfrm>
            <a:off x="1085850" y="2628900"/>
            <a:ext cx="1438275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1">
                <a:solidFill>
                  <a:srgbClr val="00F5D4"/>
                </a:solidFill>
                <a:latin typeface="Aptos"/>
              </a:rPr>
              <a:t>1. Register</a:t>
            </a:r>
            <a:endParaRPr sz="2000"/>
          </a:p>
        </p:txBody>
      </p:sp>
      <p:sp>
        <p:nvSpPr>
          <p:cNvPr id="124" name="1. Register body"/>
          <p:cNvSpPr txBox="1"/>
          <p:nvPr/>
        </p:nvSpPr>
        <p:spPr>
          <a:xfrm>
            <a:off x="914400" y="3028950"/>
            <a:ext cx="1590675" cy="981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C7D2FE"/>
                </a:solidFill>
                <a:latin typeface="Aptos"/>
              </a:rPr>
              <a:t>Learner signs up, logs in, and receives a role-based JWT.</a:t>
            </a:r>
            <a:endParaRPr sz="1600"/>
          </a:p>
        </p:txBody>
      </p:sp>
      <p:sp>
        <p:nvSpPr>
          <p:cNvPr id="131" name="2. Add Skills card"/>
          <p:cNvSpPr/>
          <p:nvPr/>
        </p:nvSpPr>
        <p:spPr>
          <a:xfrm>
            <a:off x="3048000" y="2476500"/>
            <a:ext cx="2047875" cy="1666875"/>
          </a:xfrm>
          <a:prstGeom prst="roundRect">
            <a:avLst/>
          </a:prstGeom>
          <a:solidFill>
            <a:srgbClr val="0F1226">
              <a:alpha val="78000"/>
            </a:srgbClr>
          </a:solidFill>
          <a:ln w="12700">
            <a:solidFill>
              <a:srgbClr val="C7D2FE">
                <a:alpha val="18000"/>
              </a:srgbClr>
            </a:solidFill>
          </a:ln>
        </p:spPr>
      </p:sp>
      <p:sp>
        <p:nvSpPr>
          <p:cNvPr id="132" name="2. Add Skills dot"/>
          <p:cNvSpPr/>
          <p:nvPr/>
        </p:nvSpPr>
        <p:spPr>
          <a:xfrm>
            <a:off x="3257550" y="2705100"/>
            <a:ext cx="95250" cy="95250"/>
          </a:xfrm>
          <a:prstGeom prst="ellipse">
            <a:avLst/>
          </a:prstGeom>
          <a:solidFill>
            <a:srgbClr val="FFB703"/>
          </a:solidFill>
          <a:ln>
            <a:noFill/>
          </a:ln>
        </p:spPr>
      </p:sp>
      <p:sp>
        <p:nvSpPr>
          <p:cNvPr id="133" name="2. Add Skills heading"/>
          <p:cNvSpPr txBox="1"/>
          <p:nvPr/>
        </p:nvSpPr>
        <p:spPr>
          <a:xfrm>
            <a:off x="3448050" y="2628900"/>
            <a:ext cx="1438275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1" dirty="0">
                <a:solidFill>
                  <a:srgbClr val="FFB703"/>
                </a:solidFill>
                <a:latin typeface="Aptos"/>
              </a:rPr>
              <a:t>2. </a:t>
            </a:r>
            <a:r>
              <a:rPr lang="en-US" b="1" dirty="0">
                <a:solidFill>
                  <a:srgbClr val="FFB703"/>
                </a:solidFill>
                <a:latin typeface="Aptos"/>
              </a:rPr>
              <a:t>Add</a:t>
            </a:r>
            <a:r>
              <a:rPr lang="en-US" sz="2000" b="1" dirty="0">
                <a:solidFill>
                  <a:srgbClr val="FFB703"/>
                </a:solidFill>
                <a:latin typeface="Aptos"/>
              </a:rPr>
              <a:t> </a:t>
            </a:r>
            <a:r>
              <a:rPr lang="en-US" b="1" dirty="0">
                <a:solidFill>
                  <a:srgbClr val="FFB703"/>
                </a:solidFill>
                <a:latin typeface="Aptos"/>
              </a:rPr>
              <a:t>Skills</a:t>
            </a:r>
            <a:endParaRPr sz="2000" dirty="0"/>
          </a:p>
        </p:txBody>
      </p:sp>
      <p:sp>
        <p:nvSpPr>
          <p:cNvPr id="134" name="2. Add Skills body"/>
          <p:cNvSpPr txBox="1"/>
          <p:nvPr/>
        </p:nvSpPr>
        <p:spPr>
          <a:xfrm>
            <a:off x="3276600" y="3028950"/>
            <a:ext cx="1590675" cy="981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dirty="0">
                <a:solidFill>
                  <a:srgbClr val="C7D2FE"/>
                </a:solidFill>
                <a:latin typeface="Aptos"/>
              </a:rPr>
              <a:t>Rating initializes ease factor and review interval.</a:t>
            </a:r>
            <a:endParaRPr sz="1600" dirty="0"/>
          </a:p>
        </p:txBody>
      </p:sp>
      <p:sp>
        <p:nvSpPr>
          <p:cNvPr id="141" name="3. Review card"/>
          <p:cNvSpPr/>
          <p:nvPr/>
        </p:nvSpPr>
        <p:spPr>
          <a:xfrm>
            <a:off x="5410200" y="2476500"/>
            <a:ext cx="2047875" cy="1666875"/>
          </a:xfrm>
          <a:prstGeom prst="roundRect">
            <a:avLst/>
          </a:prstGeom>
          <a:solidFill>
            <a:srgbClr val="0F1226">
              <a:alpha val="78000"/>
            </a:srgbClr>
          </a:solidFill>
          <a:ln w="12700">
            <a:solidFill>
              <a:srgbClr val="C7D2FE">
                <a:alpha val="18000"/>
              </a:srgbClr>
            </a:solidFill>
          </a:ln>
        </p:spPr>
      </p:sp>
      <p:sp>
        <p:nvSpPr>
          <p:cNvPr id="142" name="3. Review dot"/>
          <p:cNvSpPr/>
          <p:nvPr/>
        </p:nvSpPr>
        <p:spPr>
          <a:xfrm>
            <a:off x="5619750" y="2705100"/>
            <a:ext cx="95250" cy="95250"/>
          </a:xfrm>
          <a:prstGeom prst="ellipse">
            <a:avLst/>
          </a:prstGeom>
          <a:solidFill>
            <a:srgbClr val="00F5D4"/>
          </a:solidFill>
          <a:ln>
            <a:noFill/>
          </a:ln>
        </p:spPr>
      </p:sp>
      <p:sp>
        <p:nvSpPr>
          <p:cNvPr id="143" name="3. Review heading"/>
          <p:cNvSpPr txBox="1"/>
          <p:nvPr/>
        </p:nvSpPr>
        <p:spPr>
          <a:xfrm>
            <a:off x="5810250" y="2628900"/>
            <a:ext cx="1438275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1">
                <a:solidFill>
                  <a:srgbClr val="00F5D4"/>
                </a:solidFill>
                <a:latin typeface="Aptos"/>
              </a:rPr>
              <a:t>3. Review</a:t>
            </a:r>
            <a:endParaRPr sz="2000"/>
          </a:p>
        </p:txBody>
      </p:sp>
      <p:sp>
        <p:nvSpPr>
          <p:cNvPr id="144" name="3. Review body"/>
          <p:cNvSpPr txBox="1"/>
          <p:nvPr/>
        </p:nvSpPr>
        <p:spPr>
          <a:xfrm>
            <a:off x="5638800" y="3028950"/>
            <a:ext cx="1590675" cy="981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C7D2FE"/>
                </a:solidFill>
                <a:latin typeface="Aptos"/>
              </a:rPr>
              <a:t>Study logs update the decay curve and next review date.</a:t>
            </a:r>
            <a:endParaRPr sz="1600"/>
          </a:p>
        </p:txBody>
      </p:sp>
      <p:sp>
        <p:nvSpPr>
          <p:cNvPr id="151" name="4. Improve card"/>
          <p:cNvSpPr/>
          <p:nvPr/>
        </p:nvSpPr>
        <p:spPr>
          <a:xfrm>
            <a:off x="7772400" y="2476500"/>
            <a:ext cx="2047875" cy="1666875"/>
          </a:xfrm>
          <a:prstGeom prst="roundRect">
            <a:avLst/>
          </a:prstGeom>
          <a:solidFill>
            <a:srgbClr val="0F1226">
              <a:alpha val="78000"/>
            </a:srgbClr>
          </a:solidFill>
          <a:ln w="12700">
            <a:solidFill>
              <a:srgbClr val="C7D2FE">
                <a:alpha val="18000"/>
              </a:srgbClr>
            </a:solidFill>
          </a:ln>
        </p:spPr>
      </p:sp>
      <p:sp>
        <p:nvSpPr>
          <p:cNvPr id="152" name="4. Improve dot"/>
          <p:cNvSpPr/>
          <p:nvPr/>
        </p:nvSpPr>
        <p:spPr>
          <a:xfrm>
            <a:off x="7981950" y="2705100"/>
            <a:ext cx="95250" cy="95250"/>
          </a:xfrm>
          <a:prstGeom prst="ellipse">
            <a:avLst/>
          </a:prstGeom>
          <a:solidFill>
            <a:srgbClr val="E2574C"/>
          </a:solidFill>
          <a:ln>
            <a:noFill/>
          </a:ln>
        </p:spPr>
      </p:sp>
      <p:sp>
        <p:nvSpPr>
          <p:cNvPr id="153" name="4. Improve heading"/>
          <p:cNvSpPr txBox="1"/>
          <p:nvPr/>
        </p:nvSpPr>
        <p:spPr>
          <a:xfrm>
            <a:off x="8172450" y="2628900"/>
            <a:ext cx="1438275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1">
                <a:solidFill>
                  <a:srgbClr val="E2574C"/>
                </a:solidFill>
                <a:latin typeface="Aptos"/>
              </a:rPr>
              <a:t>4. Improve</a:t>
            </a:r>
            <a:endParaRPr sz="2000"/>
          </a:p>
        </p:txBody>
      </p:sp>
      <p:sp>
        <p:nvSpPr>
          <p:cNvPr id="154" name="4. Improve body"/>
          <p:cNvSpPr txBox="1"/>
          <p:nvPr/>
        </p:nvSpPr>
        <p:spPr>
          <a:xfrm>
            <a:off x="8001000" y="3028950"/>
            <a:ext cx="1590675" cy="981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400" dirty="0">
                <a:solidFill>
                  <a:srgbClr val="C7D2FE"/>
                </a:solidFill>
                <a:latin typeface="Aptos"/>
              </a:rPr>
              <a:t>Reports, refreshers, GitHub sync, and mentor nudges keep skills lit.</a:t>
            </a:r>
            <a:endParaRPr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nebula-top"/>
          <p:cNvSpPr/>
          <p:nvPr/>
        </p:nvSpPr>
        <p:spPr>
          <a:xfrm>
            <a:off x="-857250" y="-1143000"/>
            <a:ext cx="4953000" cy="3429000"/>
          </a:xfrm>
          <a:prstGeom prst="ellipse">
            <a:avLst/>
          </a:prstGeom>
          <a:solidFill>
            <a:srgbClr val="6366F1">
              <a:alpha val="18000"/>
            </a:srgbClr>
          </a:solidFill>
          <a:ln>
            <a:noFill/>
          </a:ln>
        </p:spPr>
      </p:sp>
      <p:sp>
        <p:nvSpPr>
          <p:cNvPr id="3" name="nebula-right"/>
          <p:cNvSpPr/>
          <p:nvPr/>
        </p:nvSpPr>
        <p:spPr>
          <a:xfrm>
            <a:off x="8858250" y="762000"/>
            <a:ext cx="4381500" cy="4381500"/>
          </a:xfrm>
          <a:prstGeom prst="ellipse">
            <a:avLst/>
          </a:prstGeom>
          <a:solidFill>
            <a:srgbClr val="00F5D4">
              <a:alpha val="10000"/>
            </a:srgbClr>
          </a:solidFill>
          <a:ln>
            <a:noFill/>
          </a:ln>
        </p:spPr>
      </p:sp>
      <p:sp>
        <p:nvSpPr>
          <p:cNvPr id="500" name="star-0"/>
          <p:cNvSpPr/>
          <p:nvPr/>
        </p:nvSpPr>
        <p:spPr>
          <a:xfrm>
            <a:off x="514350" y="838200"/>
            <a:ext cx="38100" cy="38100"/>
          </a:xfrm>
          <a:prstGeom prst="ellipse">
            <a:avLst/>
          </a:prstGeom>
          <a:solidFill>
            <a:srgbClr val="00F5D4">
              <a:alpha val="85000"/>
            </a:srgbClr>
          </a:solidFill>
          <a:ln>
            <a:noFill/>
          </a:ln>
        </p:spPr>
      </p:sp>
      <p:sp>
        <p:nvSpPr>
          <p:cNvPr id="501" name="star-1"/>
          <p:cNvSpPr/>
          <p:nvPr/>
        </p:nvSpPr>
        <p:spPr>
          <a:xfrm>
            <a:off x="1752600" y="590550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02" name="star-2"/>
          <p:cNvSpPr/>
          <p:nvPr/>
        </p:nvSpPr>
        <p:spPr>
          <a:xfrm>
            <a:off x="2362200" y="99060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03" name="star-3"/>
          <p:cNvSpPr/>
          <p:nvPr/>
        </p:nvSpPr>
        <p:spPr>
          <a:xfrm>
            <a:off x="3051429" y="5238750"/>
            <a:ext cx="38100" cy="38100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04" name="star-4"/>
          <p:cNvSpPr/>
          <p:nvPr/>
        </p:nvSpPr>
        <p:spPr>
          <a:xfrm>
            <a:off x="4533900" y="685800"/>
            <a:ext cx="28575" cy="28575"/>
          </a:xfrm>
          <a:prstGeom prst="ellipse">
            <a:avLst/>
          </a:prstGeom>
          <a:solidFill>
            <a:srgbClr val="00F5D4">
              <a:alpha val="85000"/>
            </a:srgbClr>
          </a:solidFill>
          <a:ln>
            <a:noFill/>
          </a:ln>
        </p:spPr>
      </p:sp>
      <p:sp>
        <p:nvSpPr>
          <p:cNvPr id="505" name="star-5"/>
          <p:cNvSpPr/>
          <p:nvPr/>
        </p:nvSpPr>
        <p:spPr>
          <a:xfrm>
            <a:off x="5527929" y="609600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06" name="star-6"/>
          <p:cNvSpPr/>
          <p:nvPr/>
        </p:nvSpPr>
        <p:spPr>
          <a:xfrm>
            <a:off x="7067550" y="1200150"/>
            <a:ext cx="38100" cy="38100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07" name="star-7"/>
          <p:cNvSpPr/>
          <p:nvPr/>
        </p:nvSpPr>
        <p:spPr>
          <a:xfrm>
            <a:off x="8480679" y="569595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08" name="star-8"/>
          <p:cNvSpPr/>
          <p:nvPr/>
        </p:nvSpPr>
        <p:spPr>
          <a:xfrm>
            <a:off x="10172700" y="876300"/>
            <a:ext cx="28575" cy="28575"/>
          </a:xfrm>
          <a:prstGeom prst="ellipse">
            <a:avLst/>
          </a:prstGeom>
          <a:solidFill>
            <a:srgbClr val="00F5D4">
              <a:alpha val="85000"/>
            </a:srgbClr>
          </a:solidFill>
          <a:ln>
            <a:noFill/>
          </a:ln>
        </p:spPr>
      </p:sp>
      <p:sp>
        <p:nvSpPr>
          <p:cNvPr id="509" name="star-9"/>
          <p:cNvSpPr/>
          <p:nvPr/>
        </p:nvSpPr>
        <p:spPr>
          <a:xfrm>
            <a:off x="11315700" y="6115050"/>
            <a:ext cx="38100" cy="38100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10" name="star-10"/>
          <p:cNvSpPr/>
          <p:nvPr/>
        </p:nvSpPr>
        <p:spPr>
          <a:xfrm>
            <a:off x="11525250" y="213360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11" name="star-11"/>
          <p:cNvSpPr/>
          <p:nvPr/>
        </p:nvSpPr>
        <p:spPr>
          <a:xfrm>
            <a:off x="819150" y="384810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12" name="star-12"/>
          <p:cNvSpPr/>
          <p:nvPr/>
        </p:nvSpPr>
        <p:spPr>
          <a:xfrm>
            <a:off x="9639300" y="3429000"/>
            <a:ext cx="38100" cy="38100"/>
          </a:xfrm>
          <a:prstGeom prst="ellipse">
            <a:avLst/>
          </a:prstGeom>
          <a:solidFill>
            <a:srgbClr val="00F5D4">
              <a:alpha val="85000"/>
            </a:srgbClr>
          </a:solidFill>
          <a:ln>
            <a:noFill/>
          </a:ln>
        </p:spPr>
      </p:sp>
      <p:sp>
        <p:nvSpPr>
          <p:cNvPr id="513" name="star-13"/>
          <p:cNvSpPr/>
          <p:nvPr/>
        </p:nvSpPr>
        <p:spPr>
          <a:xfrm>
            <a:off x="6461379" y="485775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20" name="slide-number"/>
          <p:cNvSpPr txBox="1"/>
          <p:nvPr/>
        </p:nvSpPr>
        <p:spPr>
          <a:xfrm>
            <a:off x="10839450" y="400050"/>
            <a:ext cx="666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en-US" sz="1400" b="1">
                <a:solidFill>
                  <a:srgbClr val="94A3B8"/>
                </a:solidFill>
                <a:latin typeface="Aptos"/>
              </a:rPr>
              <a:t>05</a:t>
            </a:r>
            <a:endParaRPr sz="1400"/>
          </a:p>
        </p:txBody>
      </p:sp>
      <p:sp>
        <p:nvSpPr>
          <p:cNvPr id="21" name="eyebrow"/>
          <p:cNvSpPr txBox="1"/>
          <p:nvPr/>
        </p:nvSpPr>
        <p:spPr>
          <a:xfrm>
            <a:off x="685800" y="400050"/>
            <a:ext cx="15240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400" b="1">
                <a:solidFill>
                  <a:srgbClr val="00F5D4"/>
                </a:solidFill>
                <a:latin typeface="Aptos"/>
              </a:rPr>
              <a:t>ASTRAEA</a:t>
            </a:r>
            <a:endParaRPr sz="1400"/>
          </a:p>
        </p:txBody>
      </p:sp>
      <p:sp>
        <p:nvSpPr>
          <p:cNvPr id="22" name="title"/>
          <p:cNvSpPr txBox="1"/>
          <p:nvPr/>
        </p:nvSpPr>
        <p:spPr>
          <a:xfrm>
            <a:off x="685800" y="800100"/>
            <a:ext cx="78105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600" b="1">
                <a:solidFill>
                  <a:srgbClr val="C7D2FE"/>
                </a:solidFill>
                <a:latin typeface="Aptos"/>
              </a:rPr>
              <a:t>Mentor &amp; Both-Role Workflow</a:t>
            </a:r>
            <a:endParaRPr sz="3600"/>
          </a:p>
        </p:txBody>
      </p:sp>
      <p:sp>
        <p:nvSpPr>
          <p:cNvPr id="23" name="subtitle"/>
          <p:cNvSpPr txBox="1"/>
          <p:nvPr/>
        </p:nvSpPr>
        <p:spPr>
          <a:xfrm>
            <a:off x="704850" y="1390650"/>
            <a:ext cx="72390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94A3B8"/>
                </a:solidFill>
                <a:latin typeface="Aptos"/>
              </a:rPr>
              <a:t>Mentors get read-only visibility; learners can become Both when invited by another learner.</a:t>
            </a:r>
            <a:endParaRPr sz="1600"/>
          </a:p>
        </p:txBody>
      </p:sp>
      <p:sp>
        <p:nvSpPr>
          <p:cNvPr id="160" name="Invite card"/>
          <p:cNvSpPr/>
          <p:nvPr/>
        </p:nvSpPr>
        <p:spPr>
          <a:xfrm>
            <a:off x="742950" y="2095500"/>
            <a:ext cx="3000375" cy="1428750"/>
          </a:xfrm>
          <a:prstGeom prst="roundRect">
            <a:avLst/>
          </a:prstGeom>
          <a:solidFill>
            <a:srgbClr val="0F1226">
              <a:alpha val="78000"/>
            </a:srgbClr>
          </a:solidFill>
          <a:ln w="12700">
            <a:solidFill>
              <a:srgbClr val="C7D2FE">
                <a:alpha val="18000"/>
              </a:srgbClr>
            </a:solidFill>
          </a:ln>
        </p:spPr>
      </p:sp>
      <p:sp>
        <p:nvSpPr>
          <p:cNvPr id="161" name="Invite dot"/>
          <p:cNvSpPr/>
          <p:nvPr/>
        </p:nvSpPr>
        <p:spPr>
          <a:xfrm>
            <a:off x="952500" y="2324100"/>
            <a:ext cx="95250" cy="95250"/>
          </a:xfrm>
          <a:prstGeom prst="ellipse">
            <a:avLst/>
          </a:prstGeom>
          <a:solidFill>
            <a:srgbClr val="00F5D4"/>
          </a:solidFill>
          <a:ln>
            <a:noFill/>
          </a:ln>
        </p:spPr>
      </p:sp>
      <p:sp>
        <p:nvSpPr>
          <p:cNvPr id="162" name="Invite heading"/>
          <p:cNvSpPr txBox="1"/>
          <p:nvPr/>
        </p:nvSpPr>
        <p:spPr>
          <a:xfrm>
            <a:off x="1143000" y="2247900"/>
            <a:ext cx="2390775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1">
                <a:solidFill>
                  <a:srgbClr val="00F5D4"/>
                </a:solidFill>
                <a:latin typeface="Aptos"/>
              </a:rPr>
              <a:t>Invite</a:t>
            </a:r>
            <a:endParaRPr sz="2000"/>
          </a:p>
        </p:txBody>
      </p:sp>
      <p:sp>
        <p:nvSpPr>
          <p:cNvPr id="163" name="Invite body"/>
          <p:cNvSpPr txBox="1"/>
          <p:nvPr/>
        </p:nvSpPr>
        <p:spPr>
          <a:xfrm>
            <a:off x="971550" y="2647950"/>
            <a:ext cx="2543175" cy="742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C7D2FE"/>
                </a:solidFill>
                <a:latin typeface="Aptos"/>
              </a:rPr>
              <a:t>A learner invites a mentor by email. The connection is stored as Pending.</a:t>
            </a:r>
            <a:endParaRPr sz="1600"/>
          </a:p>
        </p:txBody>
      </p:sp>
      <p:sp>
        <p:nvSpPr>
          <p:cNvPr id="170" name="Accept / Decline card"/>
          <p:cNvSpPr/>
          <p:nvPr/>
        </p:nvSpPr>
        <p:spPr>
          <a:xfrm>
            <a:off x="4591050" y="2095500"/>
            <a:ext cx="3000375" cy="1428750"/>
          </a:xfrm>
          <a:prstGeom prst="roundRect">
            <a:avLst/>
          </a:prstGeom>
          <a:solidFill>
            <a:srgbClr val="0F1226">
              <a:alpha val="78000"/>
            </a:srgbClr>
          </a:solidFill>
          <a:ln w="12700">
            <a:solidFill>
              <a:srgbClr val="C7D2FE">
                <a:alpha val="18000"/>
              </a:srgbClr>
            </a:solidFill>
          </a:ln>
        </p:spPr>
      </p:sp>
      <p:sp>
        <p:nvSpPr>
          <p:cNvPr id="171" name="Accept / Decline dot"/>
          <p:cNvSpPr/>
          <p:nvPr/>
        </p:nvSpPr>
        <p:spPr>
          <a:xfrm>
            <a:off x="4800600" y="2324100"/>
            <a:ext cx="95250" cy="95250"/>
          </a:xfrm>
          <a:prstGeom prst="ellipse">
            <a:avLst/>
          </a:prstGeom>
          <a:solidFill>
            <a:srgbClr val="FFB703"/>
          </a:solidFill>
          <a:ln>
            <a:noFill/>
          </a:ln>
        </p:spPr>
      </p:sp>
      <p:sp>
        <p:nvSpPr>
          <p:cNvPr id="172" name="Accept / Decline heading"/>
          <p:cNvSpPr txBox="1"/>
          <p:nvPr/>
        </p:nvSpPr>
        <p:spPr>
          <a:xfrm>
            <a:off x="4991100" y="2247900"/>
            <a:ext cx="2390775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1">
                <a:solidFill>
                  <a:srgbClr val="FFB703"/>
                </a:solidFill>
                <a:latin typeface="Aptos"/>
              </a:rPr>
              <a:t>Accept / Decline</a:t>
            </a:r>
            <a:endParaRPr sz="2000"/>
          </a:p>
        </p:txBody>
      </p:sp>
      <p:sp>
        <p:nvSpPr>
          <p:cNvPr id="173" name="Accept / Decline body"/>
          <p:cNvSpPr txBox="1"/>
          <p:nvPr/>
        </p:nvSpPr>
        <p:spPr>
          <a:xfrm>
            <a:off x="4819650" y="2647950"/>
            <a:ext cx="2543175" cy="742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C7D2FE"/>
                </a:solidFill>
                <a:latin typeface="Aptos"/>
              </a:rPr>
              <a:t>The invited user receives an inbox notification. Accepting grants observer access.</a:t>
            </a:r>
            <a:endParaRPr sz="1600"/>
          </a:p>
        </p:txBody>
      </p:sp>
      <p:sp>
        <p:nvSpPr>
          <p:cNvPr id="180" name="Observe card"/>
          <p:cNvSpPr/>
          <p:nvPr/>
        </p:nvSpPr>
        <p:spPr>
          <a:xfrm>
            <a:off x="8439150" y="2095500"/>
            <a:ext cx="3000375" cy="1428750"/>
          </a:xfrm>
          <a:prstGeom prst="roundRect">
            <a:avLst/>
          </a:prstGeom>
          <a:solidFill>
            <a:srgbClr val="0F1226">
              <a:alpha val="78000"/>
            </a:srgbClr>
          </a:solidFill>
          <a:ln w="12700">
            <a:solidFill>
              <a:srgbClr val="C7D2FE">
                <a:alpha val="18000"/>
              </a:srgbClr>
            </a:solidFill>
          </a:ln>
        </p:spPr>
      </p:sp>
      <p:sp>
        <p:nvSpPr>
          <p:cNvPr id="181" name="Observe dot"/>
          <p:cNvSpPr/>
          <p:nvPr/>
        </p:nvSpPr>
        <p:spPr>
          <a:xfrm>
            <a:off x="8648700" y="2324100"/>
            <a:ext cx="95250" cy="95250"/>
          </a:xfrm>
          <a:prstGeom prst="ellipse">
            <a:avLst/>
          </a:prstGeom>
          <a:solidFill>
            <a:srgbClr val="00F5D4"/>
          </a:solidFill>
          <a:ln>
            <a:noFill/>
          </a:ln>
        </p:spPr>
      </p:sp>
      <p:sp>
        <p:nvSpPr>
          <p:cNvPr id="182" name="Observe heading"/>
          <p:cNvSpPr txBox="1"/>
          <p:nvPr/>
        </p:nvSpPr>
        <p:spPr>
          <a:xfrm>
            <a:off x="8839200" y="2247900"/>
            <a:ext cx="2390775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1">
                <a:solidFill>
                  <a:srgbClr val="00F5D4"/>
                </a:solidFill>
                <a:latin typeface="Aptos"/>
              </a:rPr>
              <a:t>Observe</a:t>
            </a:r>
            <a:endParaRPr sz="2000"/>
          </a:p>
        </p:txBody>
      </p:sp>
      <p:sp>
        <p:nvSpPr>
          <p:cNvPr id="183" name="Observe body"/>
          <p:cNvSpPr txBox="1"/>
          <p:nvPr/>
        </p:nvSpPr>
        <p:spPr>
          <a:xfrm>
            <a:off x="8667750" y="2647950"/>
            <a:ext cx="2543175" cy="742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C7D2FE"/>
                </a:solidFill>
                <a:latin typeface="Aptos"/>
              </a:rPr>
              <a:t>Mentor opens a read-only dashboard and can send skill reminders.</a:t>
            </a:r>
            <a:endParaRPr sz="1600"/>
          </a:p>
        </p:txBody>
      </p:sp>
      <p:cxnSp>
        <p:nvCxnSpPr>
          <p:cNvPr id="190" name="invite-arrow-1"/>
          <p:cNvCxnSpPr/>
          <p:nvPr/>
        </p:nvCxnSpPr>
        <p:spPr>
          <a:xfrm>
            <a:off x="3752850" y="2809875"/>
            <a:ext cx="838200" cy="9525"/>
          </a:xfrm>
          <a:prstGeom prst="line">
            <a:avLst/>
          </a:prstGeom>
          <a:ln w="25400">
            <a:solidFill>
              <a:srgbClr val="C7D2FE"/>
            </a:solidFill>
          </a:ln>
        </p:spPr>
      </p:cxnSp>
      <p:cxnSp>
        <p:nvCxnSpPr>
          <p:cNvPr id="191" name="invite-arrow-2"/>
          <p:cNvCxnSpPr/>
          <p:nvPr/>
        </p:nvCxnSpPr>
        <p:spPr>
          <a:xfrm>
            <a:off x="7591425" y="2809875"/>
            <a:ext cx="847725" cy="9525"/>
          </a:xfrm>
          <a:prstGeom prst="line">
            <a:avLst/>
          </a:prstGeom>
          <a:ln w="25400">
            <a:solidFill>
              <a:srgbClr val="C7D2FE"/>
            </a:solidFill>
          </a:ln>
        </p:spPr>
      </p:cxnSp>
      <p:sp>
        <p:nvSpPr>
          <p:cNvPr id="192" name="read-only-banner"/>
          <p:cNvSpPr/>
          <p:nvPr/>
        </p:nvSpPr>
        <p:spPr>
          <a:xfrm>
            <a:off x="2079879" y="4667250"/>
            <a:ext cx="7429500" cy="876300"/>
          </a:xfrm>
          <a:prstGeom prst="roundRect">
            <a:avLst/>
          </a:prstGeom>
          <a:solidFill>
            <a:srgbClr val="0F1226">
              <a:alpha val="76000"/>
            </a:srgbClr>
          </a:solidFill>
          <a:ln w="12700">
            <a:solidFill>
              <a:srgbClr val="00F5D4">
                <a:alpha val="50000"/>
              </a:srgbClr>
            </a:solidFill>
          </a:ln>
        </p:spPr>
      </p:sp>
      <p:sp>
        <p:nvSpPr>
          <p:cNvPr id="193" name="read-only-text"/>
          <p:cNvSpPr txBox="1"/>
          <p:nvPr/>
        </p:nvSpPr>
        <p:spPr>
          <a:xfrm>
            <a:off x="2403729" y="4838700"/>
            <a:ext cx="6858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800" b="1">
                <a:solidFill>
                  <a:srgbClr val="00F5D4"/>
                </a:solidFill>
                <a:latin typeface="Aptos"/>
              </a:rPr>
              <a:t>READ-ONLY PRINCIPLE: mentors can view progress and send reminders, but they cannot edit learner skills, logs, or settings.</a:t>
            </a:r>
            <a:endParaRPr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nebula-top"/>
          <p:cNvSpPr/>
          <p:nvPr/>
        </p:nvSpPr>
        <p:spPr>
          <a:xfrm>
            <a:off x="-857250" y="-1143000"/>
            <a:ext cx="4953000" cy="3429000"/>
          </a:xfrm>
          <a:prstGeom prst="ellipse">
            <a:avLst/>
          </a:prstGeom>
          <a:solidFill>
            <a:srgbClr val="6366F1">
              <a:alpha val="18000"/>
            </a:srgbClr>
          </a:solidFill>
          <a:ln>
            <a:noFill/>
          </a:ln>
        </p:spPr>
      </p:sp>
      <p:sp>
        <p:nvSpPr>
          <p:cNvPr id="3" name="nebula-right"/>
          <p:cNvSpPr/>
          <p:nvPr/>
        </p:nvSpPr>
        <p:spPr>
          <a:xfrm>
            <a:off x="8858250" y="762000"/>
            <a:ext cx="4381500" cy="4381500"/>
          </a:xfrm>
          <a:prstGeom prst="ellipse">
            <a:avLst/>
          </a:prstGeom>
          <a:solidFill>
            <a:srgbClr val="00F5D4">
              <a:alpha val="10000"/>
            </a:srgbClr>
          </a:solidFill>
          <a:ln>
            <a:noFill/>
          </a:ln>
        </p:spPr>
      </p:sp>
      <p:sp>
        <p:nvSpPr>
          <p:cNvPr id="500" name="star-0"/>
          <p:cNvSpPr/>
          <p:nvPr/>
        </p:nvSpPr>
        <p:spPr>
          <a:xfrm>
            <a:off x="514350" y="838200"/>
            <a:ext cx="38100" cy="38100"/>
          </a:xfrm>
          <a:prstGeom prst="ellipse">
            <a:avLst/>
          </a:prstGeom>
          <a:solidFill>
            <a:srgbClr val="00F5D4">
              <a:alpha val="85000"/>
            </a:srgbClr>
          </a:solidFill>
          <a:ln>
            <a:noFill/>
          </a:ln>
        </p:spPr>
      </p:sp>
      <p:sp>
        <p:nvSpPr>
          <p:cNvPr id="501" name="star-1"/>
          <p:cNvSpPr/>
          <p:nvPr/>
        </p:nvSpPr>
        <p:spPr>
          <a:xfrm>
            <a:off x="1752600" y="590550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02" name="star-2"/>
          <p:cNvSpPr/>
          <p:nvPr/>
        </p:nvSpPr>
        <p:spPr>
          <a:xfrm>
            <a:off x="2362200" y="99060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03" name="star-3"/>
          <p:cNvSpPr/>
          <p:nvPr/>
        </p:nvSpPr>
        <p:spPr>
          <a:xfrm>
            <a:off x="3352800" y="5219700"/>
            <a:ext cx="38100" cy="38100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04" name="star-4"/>
          <p:cNvSpPr/>
          <p:nvPr/>
        </p:nvSpPr>
        <p:spPr>
          <a:xfrm>
            <a:off x="4533900" y="685800"/>
            <a:ext cx="28575" cy="28575"/>
          </a:xfrm>
          <a:prstGeom prst="ellipse">
            <a:avLst/>
          </a:prstGeom>
          <a:solidFill>
            <a:srgbClr val="00F5D4">
              <a:alpha val="85000"/>
            </a:srgbClr>
          </a:solidFill>
          <a:ln>
            <a:noFill/>
          </a:ln>
        </p:spPr>
      </p:sp>
      <p:sp>
        <p:nvSpPr>
          <p:cNvPr id="505" name="star-5"/>
          <p:cNvSpPr/>
          <p:nvPr/>
        </p:nvSpPr>
        <p:spPr>
          <a:xfrm>
            <a:off x="5829300" y="607695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06" name="star-6"/>
          <p:cNvSpPr/>
          <p:nvPr/>
        </p:nvSpPr>
        <p:spPr>
          <a:xfrm>
            <a:off x="7067550" y="1200150"/>
            <a:ext cx="38100" cy="38100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07" name="star-7"/>
          <p:cNvSpPr/>
          <p:nvPr/>
        </p:nvSpPr>
        <p:spPr>
          <a:xfrm>
            <a:off x="8782050" y="567690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08" name="star-8"/>
          <p:cNvSpPr/>
          <p:nvPr/>
        </p:nvSpPr>
        <p:spPr>
          <a:xfrm>
            <a:off x="10172700" y="876300"/>
            <a:ext cx="28575" cy="28575"/>
          </a:xfrm>
          <a:prstGeom prst="ellipse">
            <a:avLst/>
          </a:prstGeom>
          <a:solidFill>
            <a:srgbClr val="00F5D4">
              <a:alpha val="85000"/>
            </a:srgbClr>
          </a:solidFill>
          <a:ln>
            <a:noFill/>
          </a:ln>
        </p:spPr>
      </p:sp>
      <p:sp>
        <p:nvSpPr>
          <p:cNvPr id="509" name="star-9"/>
          <p:cNvSpPr/>
          <p:nvPr/>
        </p:nvSpPr>
        <p:spPr>
          <a:xfrm>
            <a:off x="11315700" y="6115050"/>
            <a:ext cx="38100" cy="38100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10" name="star-10"/>
          <p:cNvSpPr/>
          <p:nvPr/>
        </p:nvSpPr>
        <p:spPr>
          <a:xfrm>
            <a:off x="11525250" y="213360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11" name="star-11"/>
          <p:cNvSpPr/>
          <p:nvPr/>
        </p:nvSpPr>
        <p:spPr>
          <a:xfrm>
            <a:off x="819150" y="384810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12" name="star-12"/>
          <p:cNvSpPr/>
          <p:nvPr/>
        </p:nvSpPr>
        <p:spPr>
          <a:xfrm>
            <a:off x="9639300" y="3429000"/>
            <a:ext cx="38100" cy="38100"/>
          </a:xfrm>
          <a:prstGeom prst="ellipse">
            <a:avLst/>
          </a:prstGeom>
          <a:solidFill>
            <a:srgbClr val="00F5D4">
              <a:alpha val="85000"/>
            </a:srgbClr>
          </a:solidFill>
          <a:ln>
            <a:noFill/>
          </a:ln>
        </p:spPr>
      </p:sp>
      <p:sp>
        <p:nvSpPr>
          <p:cNvPr id="513" name="star-13"/>
          <p:cNvSpPr/>
          <p:nvPr/>
        </p:nvSpPr>
        <p:spPr>
          <a:xfrm>
            <a:off x="6762750" y="483870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20" name="slide-number"/>
          <p:cNvSpPr txBox="1"/>
          <p:nvPr/>
        </p:nvSpPr>
        <p:spPr>
          <a:xfrm>
            <a:off x="10839450" y="400050"/>
            <a:ext cx="666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en-US" sz="1400" b="1">
                <a:solidFill>
                  <a:srgbClr val="94A3B8"/>
                </a:solidFill>
                <a:latin typeface="Aptos"/>
              </a:rPr>
              <a:t>06</a:t>
            </a:r>
            <a:endParaRPr sz="1400"/>
          </a:p>
        </p:txBody>
      </p:sp>
      <p:sp>
        <p:nvSpPr>
          <p:cNvPr id="21" name="eyebrow"/>
          <p:cNvSpPr txBox="1"/>
          <p:nvPr/>
        </p:nvSpPr>
        <p:spPr>
          <a:xfrm>
            <a:off x="685800" y="400050"/>
            <a:ext cx="15240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400" b="1">
                <a:solidFill>
                  <a:srgbClr val="00F5D4"/>
                </a:solidFill>
                <a:latin typeface="Aptos"/>
              </a:rPr>
              <a:t>ASTRAEA</a:t>
            </a:r>
            <a:endParaRPr sz="1400"/>
          </a:p>
        </p:txBody>
      </p:sp>
      <p:sp>
        <p:nvSpPr>
          <p:cNvPr id="22" name="title"/>
          <p:cNvSpPr txBox="1"/>
          <p:nvPr/>
        </p:nvSpPr>
        <p:spPr>
          <a:xfrm>
            <a:off x="685800" y="800100"/>
            <a:ext cx="78105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600" b="1">
                <a:solidFill>
                  <a:srgbClr val="C7D2FE"/>
                </a:solidFill>
                <a:latin typeface="Aptos"/>
              </a:rPr>
              <a:t>System Architecture</a:t>
            </a:r>
            <a:endParaRPr sz="3600"/>
          </a:p>
        </p:txBody>
      </p:sp>
      <p:sp>
        <p:nvSpPr>
          <p:cNvPr id="23" name="subtitle"/>
          <p:cNvSpPr txBox="1"/>
          <p:nvPr/>
        </p:nvSpPr>
        <p:spPr>
          <a:xfrm>
            <a:off x="704850" y="1390650"/>
            <a:ext cx="79248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dirty="0">
                <a:solidFill>
                  <a:srgbClr val="94A3B8"/>
                </a:solidFill>
                <a:latin typeface="Aptos"/>
              </a:rPr>
              <a:t>Four strict layers keep business rules, persistence, and presentation cleanly separated.</a:t>
            </a:r>
            <a:endParaRPr sz="1600" dirty="0"/>
          </a:p>
        </p:txBody>
      </p:sp>
      <p:sp>
        <p:nvSpPr>
          <p:cNvPr id="200" name="web-layer"/>
          <p:cNvSpPr/>
          <p:nvPr/>
        </p:nvSpPr>
        <p:spPr>
          <a:xfrm>
            <a:off x="1571625" y="1905000"/>
            <a:ext cx="9048750" cy="685800"/>
          </a:xfrm>
          <a:prstGeom prst="roundRect">
            <a:avLst/>
          </a:prstGeom>
          <a:solidFill>
            <a:srgbClr val="0F1226">
              <a:alpha val="79000"/>
            </a:srgbClr>
          </a:solidFill>
          <a:ln w="25400">
            <a:solidFill>
              <a:srgbClr val="00F5D4">
                <a:alpha val="70000"/>
              </a:srgbClr>
            </a:solidFill>
          </a:ln>
        </p:spPr>
      </p:sp>
      <p:sp>
        <p:nvSpPr>
          <p:cNvPr id="201" name="web-text"/>
          <p:cNvSpPr txBox="1"/>
          <p:nvPr/>
        </p:nvSpPr>
        <p:spPr>
          <a:xfrm>
            <a:off x="1952625" y="2019300"/>
            <a:ext cx="82867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200" b="1">
                <a:solidFill>
                  <a:srgbClr val="00F5D4"/>
                </a:solidFill>
                <a:latin typeface="Aptos"/>
              </a:rPr>
              <a:t>Astraea.Web  |  Controllers, JWT, SignalR, Serilog, Static SPA</a:t>
            </a:r>
            <a:endParaRPr sz="2200"/>
          </a:p>
        </p:txBody>
      </p:sp>
      <p:sp>
        <p:nvSpPr>
          <p:cNvPr id="202" name="app-layer"/>
          <p:cNvSpPr/>
          <p:nvPr/>
        </p:nvSpPr>
        <p:spPr>
          <a:xfrm>
            <a:off x="1952625" y="2800350"/>
            <a:ext cx="8286750" cy="685800"/>
          </a:xfrm>
          <a:prstGeom prst="roundRect">
            <a:avLst/>
          </a:prstGeom>
          <a:solidFill>
            <a:srgbClr val="0F1226">
              <a:alpha val="79000"/>
            </a:srgbClr>
          </a:solidFill>
          <a:ln w="12700">
            <a:solidFill>
              <a:srgbClr val="C7D2FE">
                <a:alpha val="30000"/>
              </a:srgbClr>
            </a:solidFill>
          </a:ln>
        </p:spPr>
      </p:sp>
      <p:sp>
        <p:nvSpPr>
          <p:cNvPr id="203" name="app-text"/>
          <p:cNvSpPr txBox="1"/>
          <p:nvPr/>
        </p:nvSpPr>
        <p:spPr>
          <a:xfrm>
            <a:off x="2247900" y="2933700"/>
            <a:ext cx="7715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600" b="1" dirty="0" err="1">
                <a:solidFill>
                  <a:srgbClr val="C7D2FE"/>
                </a:solidFill>
                <a:latin typeface="Aptos"/>
              </a:rPr>
              <a:t>Astraea.Application</a:t>
            </a:r>
            <a:r>
              <a:rPr lang="en-US" sz="1600" b="1" dirty="0">
                <a:solidFill>
                  <a:srgbClr val="C7D2FE"/>
                </a:solidFill>
                <a:latin typeface="Aptos"/>
              </a:rPr>
              <a:t>  |  DTOs, Interfaces, Retention Contracts, </a:t>
            </a:r>
            <a:r>
              <a:rPr lang="en-US" sz="1600" b="1" dirty="0" err="1" smtClean="0">
                <a:solidFill>
                  <a:srgbClr val="C7D2FE"/>
                </a:solidFill>
                <a:latin typeface="Aptos"/>
              </a:rPr>
              <a:t>UoW</a:t>
            </a:r>
            <a:r>
              <a:rPr lang="en-US" sz="1600" b="1" dirty="0">
                <a:solidFill>
                  <a:srgbClr val="C7D2FE"/>
                </a:solidFill>
                <a:latin typeface="Aptos"/>
              </a:rPr>
              <a:t> </a:t>
            </a:r>
            <a:r>
              <a:rPr lang="en-US" sz="1600" b="1" dirty="0" smtClean="0">
                <a:solidFill>
                  <a:srgbClr val="C7D2FE"/>
                </a:solidFill>
                <a:latin typeface="Aptos"/>
              </a:rPr>
              <a:t>Abstractions</a:t>
            </a:r>
            <a:endParaRPr sz="1600" dirty="0"/>
          </a:p>
        </p:txBody>
      </p:sp>
      <p:sp>
        <p:nvSpPr>
          <p:cNvPr id="204" name="infra-layer"/>
          <p:cNvSpPr/>
          <p:nvPr/>
        </p:nvSpPr>
        <p:spPr>
          <a:xfrm>
            <a:off x="2333625" y="3790950"/>
            <a:ext cx="7524750" cy="685800"/>
          </a:xfrm>
          <a:prstGeom prst="roundRect">
            <a:avLst/>
          </a:prstGeom>
          <a:solidFill>
            <a:srgbClr val="0F1226">
              <a:alpha val="79000"/>
            </a:srgbClr>
          </a:solidFill>
          <a:ln w="25400">
            <a:solidFill>
              <a:srgbClr val="FFB703">
                <a:alpha val="70000"/>
              </a:srgbClr>
            </a:solidFill>
          </a:ln>
        </p:spPr>
      </p:sp>
      <p:sp>
        <p:nvSpPr>
          <p:cNvPr id="205" name="infra-text"/>
          <p:cNvSpPr txBox="1"/>
          <p:nvPr/>
        </p:nvSpPr>
        <p:spPr>
          <a:xfrm>
            <a:off x="2619375" y="3882390"/>
            <a:ext cx="6953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b="1" dirty="0" err="1">
                <a:solidFill>
                  <a:srgbClr val="FFB703"/>
                </a:solidFill>
                <a:latin typeface="Aptos"/>
              </a:rPr>
              <a:t>Astraea.Infrastructure</a:t>
            </a:r>
            <a:r>
              <a:rPr lang="en-US" b="1" dirty="0">
                <a:solidFill>
                  <a:srgbClr val="FFB703"/>
                </a:solidFill>
                <a:latin typeface="Aptos"/>
              </a:rPr>
              <a:t>  |  EF Core, Services, </a:t>
            </a:r>
            <a:r>
              <a:rPr lang="en-US" b="1" dirty="0" smtClean="0">
                <a:solidFill>
                  <a:srgbClr val="FFB703"/>
                </a:solidFill>
                <a:latin typeface="Aptos"/>
              </a:rPr>
              <a:t>Repositories, </a:t>
            </a:r>
            <a:r>
              <a:rPr lang="en-US" sz="1600" b="1" dirty="0" smtClean="0">
                <a:solidFill>
                  <a:srgbClr val="FFB703"/>
                </a:solidFill>
                <a:latin typeface="Aptos"/>
              </a:rPr>
              <a:t>GitHub</a:t>
            </a:r>
            <a:r>
              <a:rPr lang="en-US" sz="1600" b="1" dirty="0">
                <a:solidFill>
                  <a:srgbClr val="FFB703"/>
                </a:solidFill>
                <a:latin typeface="Aptos"/>
              </a:rPr>
              <a:t>, Background </a:t>
            </a:r>
            <a:r>
              <a:rPr lang="en-US" b="1" dirty="0">
                <a:solidFill>
                  <a:srgbClr val="FFB703"/>
                </a:solidFill>
                <a:latin typeface="Aptos"/>
              </a:rPr>
              <a:t>Jobs</a:t>
            </a:r>
            <a:endParaRPr dirty="0"/>
          </a:p>
        </p:txBody>
      </p:sp>
      <p:sp>
        <p:nvSpPr>
          <p:cNvPr id="206" name="domain-layer"/>
          <p:cNvSpPr/>
          <p:nvPr/>
        </p:nvSpPr>
        <p:spPr>
          <a:xfrm>
            <a:off x="2714625" y="4781550"/>
            <a:ext cx="6762750" cy="685800"/>
          </a:xfrm>
          <a:prstGeom prst="roundRect">
            <a:avLst/>
          </a:prstGeom>
          <a:solidFill>
            <a:srgbClr val="0F1226">
              <a:alpha val="79000"/>
            </a:srgbClr>
          </a:solidFill>
          <a:ln w="25400">
            <a:solidFill>
              <a:srgbClr val="E2574C">
                <a:alpha val="70000"/>
              </a:srgbClr>
            </a:solidFill>
          </a:ln>
        </p:spPr>
      </p:sp>
      <p:sp>
        <p:nvSpPr>
          <p:cNvPr id="207" name="domain-text"/>
          <p:cNvSpPr txBox="1"/>
          <p:nvPr/>
        </p:nvSpPr>
        <p:spPr>
          <a:xfrm>
            <a:off x="3000375" y="4991100"/>
            <a:ext cx="6191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2000" b="1">
                <a:solidFill>
                  <a:srgbClr val="E2574C"/>
                </a:solidFill>
                <a:latin typeface="Aptos"/>
              </a:rPr>
              <a:t>Astraea.Domain  |  Pure Entities and Enums</a:t>
            </a:r>
            <a:endParaRPr sz="2000"/>
          </a:p>
        </p:txBody>
      </p:sp>
      <p:cxnSp>
        <p:nvCxnSpPr>
          <p:cNvPr id="208" name="dep1"/>
          <p:cNvCxnSpPr/>
          <p:nvPr/>
        </p:nvCxnSpPr>
        <p:spPr>
          <a:xfrm>
            <a:off x="6096000" y="2495550"/>
            <a:ext cx="9525" cy="304800"/>
          </a:xfrm>
          <a:prstGeom prst="line">
            <a:avLst/>
          </a:prstGeom>
          <a:ln w="25400">
            <a:solidFill>
              <a:srgbClr val="C7D2FE"/>
            </a:solidFill>
          </a:ln>
        </p:spPr>
      </p:cxnSp>
      <p:cxnSp>
        <p:nvCxnSpPr>
          <p:cNvPr id="209" name="dep2"/>
          <p:cNvCxnSpPr/>
          <p:nvPr/>
        </p:nvCxnSpPr>
        <p:spPr>
          <a:xfrm>
            <a:off x="6096000" y="3486150"/>
            <a:ext cx="9525" cy="304800"/>
          </a:xfrm>
          <a:prstGeom prst="line">
            <a:avLst/>
          </a:prstGeom>
          <a:ln w="25400">
            <a:solidFill>
              <a:srgbClr val="C7D2FE"/>
            </a:solidFill>
          </a:ln>
        </p:spPr>
      </p:cxnSp>
      <p:cxnSp>
        <p:nvCxnSpPr>
          <p:cNvPr id="210" name="dep3"/>
          <p:cNvCxnSpPr/>
          <p:nvPr/>
        </p:nvCxnSpPr>
        <p:spPr>
          <a:xfrm>
            <a:off x="6096000" y="4476750"/>
            <a:ext cx="9525" cy="304800"/>
          </a:xfrm>
          <a:prstGeom prst="line">
            <a:avLst/>
          </a:prstGeom>
          <a:ln w="25400">
            <a:solidFill>
              <a:srgbClr val="C7D2FE"/>
            </a:solidFill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nebula-top"/>
          <p:cNvSpPr/>
          <p:nvPr/>
        </p:nvSpPr>
        <p:spPr>
          <a:xfrm>
            <a:off x="-857250" y="-1143000"/>
            <a:ext cx="4953000" cy="3429000"/>
          </a:xfrm>
          <a:prstGeom prst="ellipse">
            <a:avLst/>
          </a:prstGeom>
          <a:solidFill>
            <a:srgbClr val="6366F1">
              <a:alpha val="18000"/>
            </a:srgbClr>
          </a:solidFill>
          <a:ln>
            <a:noFill/>
          </a:ln>
        </p:spPr>
      </p:sp>
      <p:sp>
        <p:nvSpPr>
          <p:cNvPr id="3" name="nebula-right"/>
          <p:cNvSpPr/>
          <p:nvPr/>
        </p:nvSpPr>
        <p:spPr>
          <a:xfrm>
            <a:off x="8858250" y="762000"/>
            <a:ext cx="4381500" cy="4381500"/>
          </a:xfrm>
          <a:prstGeom prst="ellipse">
            <a:avLst/>
          </a:prstGeom>
          <a:solidFill>
            <a:srgbClr val="00F5D4">
              <a:alpha val="10000"/>
            </a:srgbClr>
          </a:solidFill>
          <a:ln>
            <a:noFill/>
          </a:ln>
        </p:spPr>
      </p:sp>
      <p:sp>
        <p:nvSpPr>
          <p:cNvPr id="500" name="star-0"/>
          <p:cNvSpPr/>
          <p:nvPr/>
        </p:nvSpPr>
        <p:spPr>
          <a:xfrm>
            <a:off x="514350" y="838200"/>
            <a:ext cx="38100" cy="38100"/>
          </a:xfrm>
          <a:prstGeom prst="ellipse">
            <a:avLst/>
          </a:prstGeom>
          <a:solidFill>
            <a:srgbClr val="00F5D4">
              <a:alpha val="85000"/>
            </a:srgbClr>
          </a:solidFill>
          <a:ln>
            <a:noFill/>
          </a:ln>
        </p:spPr>
      </p:sp>
      <p:sp>
        <p:nvSpPr>
          <p:cNvPr id="501" name="star-1"/>
          <p:cNvSpPr/>
          <p:nvPr/>
        </p:nvSpPr>
        <p:spPr>
          <a:xfrm>
            <a:off x="1752600" y="590550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02" name="star-2"/>
          <p:cNvSpPr/>
          <p:nvPr/>
        </p:nvSpPr>
        <p:spPr>
          <a:xfrm>
            <a:off x="2362200" y="99060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03" name="star-3"/>
          <p:cNvSpPr/>
          <p:nvPr/>
        </p:nvSpPr>
        <p:spPr>
          <a:xfrm>
            <a:off x="3352800" y="5219700"/>
            <a:ext cx="38100" cy="38100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04" name="star-4"/>
          <p:cNvSpPr/>
          <p:nvPr/>
        </p:nvSpPr>
        <p:spPr>
          <a:xfrm>
            <a:off x="4533900" y="685800"/>
            <a:ext cx="28575" cy="28575"/>
          </a:xfrm>
          <a:prstGeom prst="ellipse">
            <a:avLst/>
          </a:prstGeom>
          <a:solidFill>
            <a:srgbClr val="00F5D4">
              <a:alpha val="85000"/>
            </a:srgbClr>
          </a:solidFill>
          <a:ln>
            <a:noFill/>
          </a:ln>
        </p:spPr>
      </p:sp>
      <p:sp>
        <p:nvSpPr>
          <p:cNvPr id="505" name="star-5"/>
          <p:cNvSpPr/>
          <p:nvPr/>
        </p:nvSpPr>
        <p:spPr>
          <a:xfrm>
            <a:off x="5829300" y="607695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06" name="star-6"/>
          <p:cNvSpPr/>
          <p:nvPr/>
        </p:nvSpPr>
        <p:spPr>
          <a:xfrm>
            <a:off x="7067550" y="1200150"/>
            <a:ext cx="38100" cy="38100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07" name="star-7"/>
          <p:cNvSpPr/>
          <p:nvPr/>
        </p:nvSpPr>
        <p:spPr>
          <a:xfrm>
            <a:off x="8782050" y="567690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08" name="star-8"/>
          <p:cNvSpPr/>
          <p:nvPr/>
        </p:nvSpPr>
        <p:spPr>
          <a:xfrm>
            <a:off x="10172700" y="876300"/>
            <a:ext cx="28575" cy="28575"/>
          </a:xfrm>
          <a:prstGeom prst="ellipse">
            <a:avLst/>
          </a:prstGeom>
          <a:solidFill>
            <a:srgbClr val="00F5D4">
              <a:alpha val="85000"/>
            </a:srgbClr>
          </a:solidFill>
          <a:ln>
            <a:noFill/>
          </a:ln>
        </p:spPr>
      </p:sp>
      <p:sp>
        <p:nvSpPr>
          <p:cNvPr id="509" name="star-9"/>
          <p:cNvSpPr/>
          <p:nvPr/>
        </p:nvSpPr>
        <p:spPr>
          <a:xfrm>
            <a:off x="11315700" y="6115050"/>
            <a:ext cx="38100" cy="38100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10" name="star-10"/>
          <p:cNvSpPr/>
          <p:nvPr/>
        </p:nvSpPr>
        <p:spPr>
          <a:xfrm>
            <a:off x="11525250" y="213360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11" name="star-11"/>
          <p:cNvSpPr/>
          <p:nvPr/>
        </p:nvSpPr>
        <p:spPr>
          <a:xfrm>
            <a:off x="819150" y="384810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12" name="star-12"/>
          <p:cNvSpPr/>
          <p:nvPr/>
        </p:nvSpPr>
        <p:spPr>
          <a:xfrm>
            <a:off x="9639300" y="3429000"/>
            <a:ext cx="38100" cy="38100"/>
          </a:xfrm>
          <a:prstGeom prst="ellipse">
            <a:avLst/>
          </a:prstGeom>
          <a:solidFill>
            <a:srgbClr val="00F5D4">
              <a:alpha val="85000"/>
            </a:srgbClr>
          </a:solidFill>
          <a:ln>
            <a:noFill/>
          </a:ln>
        </p:spPr>
      </p:sp>
      <p:sp>
        <p:nvSpPr>
          <p:cNvPr id="513" name="star-13"/>
          <p:cNvSpPr/>
          <p:nvPr/>
        </p:nvSpPr>
        <p:spPr>
          <a:xfrm>
            <a:off x="6762750" y="483870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20" name="slide-number"/>
          <p:cNvSpPr txBox="1"/>
          <p:nvPr/>
        </p:nvSpPr>
        <p:spPr>
          <a:xfrm>
            <a:off x="10839450" y="400050"/>
            <a:ext cx="666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en-US" sz="1400" b="1">
                <a:solidFill>
                  <a:srgbClr val="94A3B8"/>
                </a:solidFill>
                <a:latin typeface="Aptos"/>
              </a:rPr>
              <a:t>07</a:t>
            </a:r>
            <a:endParaRPr sz="1400"/>
          </a:p>
        </p:txBody>
      </p:sp>
      <p:sp>
        <p:nvSpPr>
          <p:cNvPr id="21" name="eyebrow"/>
          <p:cNvSpPr txBox="1"/>
          <p:nvPr/>
        </p:nvSpPr>
        <p:spPr>
          <a:xfrm>
            <a:off x="685800" y="400050"/>
            <a:ext cx="15240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400" b="1">
                <a:solidFill>
                  <a:srgbClr val="00F5D4"/>
                </a:solidFill>
                <a:latin typeface="Aptos"/>
              </a:rPr>
              <a:t>ASTRAEA</a:t>
            </a:r>
            <a:endParaRPr sz="1400"/>
          </a:p>
        </p:txBody>
      </p:sp>
      <p:sp>
        <p:nvSpPr>
          <p:cNvPr id="22" name="title"/>
          <p:cNvSpPr txBox="1"/>
          <p:nvPr/>
        </p:nvSpPr>
        <p:spPr>
          <a:xfrm>
            <a:off x="685800" y="800100"/>
            <a:ext cx="78105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600" b="1">
                <a:solidFill>
                  <a:srgbClr val="C7D2FE"/>
                </a:solidFill>
                <a:latin typeface="Aptos"/>
              </a:rPr>
              <a:t>Database Model</a:t>
            </a:r>
            <a:endParaRPr sz="3600"/>
          </a:p>
        </p:txBody>
      </p:sp>
      <p:sp>
        <p:nvSpPr>
          <p:cNvPr id="23" name="subtitle"/>
          <p:cNvSpPr txBox="1"/>
          <p:nvPr/>
        </p:nvSpPr>
        <p:spPr>
          <a:xfrm>
            <a:off x="704850" y="1390650"/>
            <a:ext cx="72390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94A3B8"/>
                </a:solidFill>
                <a:latin typeface="Aptos"/>
              </a:rPr>
              <a:t>The schema centers on learners, skills, mentor relationships, and practice evidence.</a:t>
            </a:r>
            <a:endParaRPr sz="1600"/>
          </a:p>
        </p:txBody>
      </p:sp>
      <p:sp>
        <p:nvSpPr>
          <p:cNvPr id="220" name="Users card"/>
          <p:cNvSpPr/>
          <p:nvPr/>
        </p:nvSpPr>
        <p:spPr>
          <a:xfrm>
            <a:off x="685800" y="1952625"/>
            <a:ext cx="2476500" cy="1285875"/>
          </a:xfrm>
          <a:prstGeom prst="roundRect">
            <a:avLst/>
          </a:prstGeom>
          <a:solidFill>
            <a:srgbClr val="0F1226">
              <a:alpha val="78000"/>
            </a:srgbClr>
          </a:solidFill>
          <a:ln w="12700">
            <a:solidFill>
              <a:srgbClr val="C7D2FE">
                <a:alpha val="18000"/>
              </a:srgbClr>
            </a:solidFill>
          </a:ln>
        </p:spPr>
      </p:sp>
      <p:sp>
        <p:nvSpPr>
          <p:cNvPr id="221" name="Users dot"/>
          <p:cNvSpPr/>
          <p:nvPr/>
        </p:nvSpPr>
        <p:spPr>
          <a:xfrm>
            <a:off x="895350" y="2181225"/>
            <a:ext cx="95250" cy="95250"/>
          </a:xfrm>
          <a:prstGeom prst="ellipse">
            <a:avLst/>
          </a:prstGeom>
          <a:solidFill>
            <a:srgbClr val="00F5D4"/>
          </a:solidFill>
          <a:ln>
            <a:noFill/>
          </a:ln>
        </p:spPr>
      </p:sp>
      <p:sp>
        <p:nvSpPr>
          <p:cNvPr id="222" name="Users heading"/>
          <p:cNvSpPr txBox="1"/>
          <p:nvPr/>
        </p:nvSpPr>
        <p:spPr>
          <a:xfrm>
            <a:off x="1085850" y="2105025"/>
            <a:ext cx="18669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1">
                <a:solidFill>
                  <a:srgbClr val="00F5D4"/>
                </a:solidFill>
                <a:latin typeface="Aptos"/>
              </a:rPr>
              <a:t>Users</a:t>
            </a:r>
            <a:endParaRPr sz="2000"/>
          </a:p>
        </p:txBody>
      </p:sp>
      <p:sp>
        <p:nvSpPr>
          <p:cNvPr id="223" name="Users body"/>
          <p:cNvSpPr txBox="1"/>
          <p:nvPr/>
        </p:nvSpPr>
        <p:spPr>
          <a:xfrm>
            <a:off x="903732" y="2404301"/>
            <a:ext cx="2019300" cy="600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dirty="0">
                <a:solidFill>
                  <a:srgbClr val="C7D2FE"/>
                </a:solidFill>
                <a:latin typeface="Aptos"/>
              </a:rPr>
              <a:t>Identity, password hash, full name, role, created date.</a:t>
            </a:r>
            <a:endParaRPr sz="1600" dirty="0"/>
          </a:p>
        </p:txBody>
      </p:sp>
      <p:sp>
        <p:nvSpPr>
          <p:cNvPr id="230" name="Skills card"/>
          <p:cNvSpPr/>
          <p:nvPr/>
        </p:nvSpPr>
        <p:spPr>
          <a:xfrm>
            <a:off x="4857750" y="1952625"/>
            <a:ext cx="2476500" cy="1285875"/>
          </a:xfrm>
          <a:prstGeom prst="roundRect">
            <a:avLst/>
          </a:prstGeom>
          <a:solidFill>
            <a:srgbClr val="0F1226">
              <a:alpha val="78000"/>
            </a:srgbClr>
          </a:solidFill>
          <a:ln w="12700">
            <a:solidFill>
              <a:srgbClr val="C7D2FE">
                <a:alpha val="18000"/>
              </a:srgbClr>
            </a:solidFill>
          </a:ln>
        </p:spPr>
      </p:sp>
      <p:sp>
        <p:nvSpPr>
          <p:cNvPr id="231" name="Skills dot"/>
          <p:cNvSpPr/>
          <p:nvPr/>
        </p:nvSpPr>
        <p:spPr>
          <a:xfrm>
            <a:off x="5067300" y="2181225"/>
            <a:ext cx="95250" cy="95250"/>
          </a:xfrm>
          <a:prstGeom prst="ellipse">
            <a:avLst/>
          </a:prstGeom>
          <a:solidFill>
            <a:srgbClr val="FFB703"/>
          </a:solidFill>
          <a:ln>
            <a:noFill/>
          </a:ln>
        </p:spPr>
      </p:sp>
      <p:sp>
        <p:nvSpPr>
          <p:cNvPr id="232" name="Skills heading"/>
          <p:cNvSpPr txBox="1"/>
          <p:nvPr/>
        </p:nvSpPr>
        <p:spPr>
          <a:xfrm>
            <a:off x="5257800" y="2105025"/>
            <a:ext cx="18669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1">
                <a:solidFill>
                  <a:srgbClr val="FFB703"/>
                </a:solidFill>
                <a:latin typeface="Aptos"/>
              </a:rPr>
              <a:t>Skills</a:t>
            </a:r>
            <a:endParaRPr sz="2000"/>
          </a:p>
        </p:txBody>
      </p:sp>
      <p:sp>
        <p:nvSpPr>
          <p:cNvPr id="233" name="Skills body"/>
          <p:cNvSpPr txBox="1"/>
          <p:nvPr/>
        </p:nvSpPr>
        <p:spPr>
          <a:xfrm>
            <a:off x="5086350" y="2432875"/>
            <a:ext cx="2019300" cy="600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dirty="0">
                <a:solidFill>
                  <a:srgbClr val="C7D2FE"/>
                </a:solidFill>
                <a:latin typeface="Aptos"/>
              </a:rPr>
              <a:t>Retention parameters, canvas coordinates, archive state.</a:t>
            </a:r>
            <a:endParaRPr sz="1600" dirty="0"/>
          </a:p>
        </p:txBody>
      </p:sp>
      <p:sp>
        <p:nvSpPr>
          <p:cNvPr id="240" name="MentorLearners card"/>
          <p:cNvSpPr/>
          <p:nvPr/>
        </p:nvSpPr>
        <p:spPr>
          <a:xfrm>
            <a:off x="9029700" y="1952625"/>
            <a:ext cx="2476500" cy="1285875"/>
          </a:xfrm>
          <a:prstGeom prst="roundRect">
            <a:avLst/>
          </a:prstGeom>
          <a:solidFill>
            <a:srgbClr val="0F1226">
              <a:alpha val="78000"/>
            </a:srgbClr>
          </a:solidFill>
          <a:ln w="12700">
            <a:solidFill>
              <a:srgbClr val="C7D2FE">
                <a:alpha val="18000"/>
              </a:srgbClr>
            </a:solidFill>
          </a:ln>
        </p:spPr>
      </p:sp>
      <p:sp>
        <p:nvSpPr>
          <p:cNvPr id="241" name="MentorLearners dot"/>
          <p:cNvSpPr/>
          <p:nvPr/>
        </p:nvSpPr>
        <p:spPr>
          <a:xfrm>
            <a:off x="9239250" y="2181225"/>
            <a:ext cx="95250" cy="95250"/>
          </a:xfrm>
          <a:prstGeom prst="ellipse">
            <a:avLst/>
          </a:prstGeom>
          <a:solidFill>
            <a:srgbClr val="00F5D4"/>
          </a:solidFill>
          <a:ln>
            <a:noFill/>
          </a:ln>
        </p:spPr>
      </p:sp>
      <p:sp>
        <p:nvSpPr>
          <p:cNvPr id="242" name="MentorLearners heading"/>
          <p:cNvSpPr txBox="1"/>
          <p:nvPr/>
        </p:nvSpPr>
        <p:spPr>
          <a:xfrm>
            <a:off x="9429750" y="2105025"/>
            <a:ext cx="18669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b="1" dirty="0" err="1">
                <a:solidFill>
                  <a:srgbClr val="00F5D4"/>
                </a:solidFill>
                <a:latin typeface="Aptos"/>
              </a:rPr>
              <a:t>MentorLearners</a:t>
            </a:r>
            <a:endParaRPr dirty="0"/>
          </a:p>
        </p:txBody>
      </p:sp>
      <p:sp>
        <p:nvSpPr>
          <p:cNvPr id="243" name="MentorLearners body"/>
          <p:cNvSpPr txBox="1"/>
          <p:nvPr/>
        </p:nvSpPr>
        <p:spPr>
          <a:xfrm>
            <a:off x="9383649" y="2419350"/>
            <a:ext cx="2019300" cy="600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dirty="0">
                <a:solidFill>
                  <a:srgbClr val="C7D2FE"/>
                </a:solidFill>
                <a:latin typeface="Aptos"/>
              </a:rPr>
              <a:t>Pending, accepted, declined, revoked access records.</a:t>
            </a:r>
            <a:endParaRPr sz="1600" dirty="0"/>
          </a:p>
        </p:txBody>
      </p:sp>
      <p:sp>
        <p:nvSpPr>
          <p:cNvPr id="250" name="StudyLogs card"/>
          <p:cNvSpPr/>
          <p:nvPr/>
        </p:nvSpPr>
        <p:spPr>
          <a:xfrm>
            <a:off x="685800" y="4095750"/>
            <a:ext cx="2476500" cy="1143000"/>
          </a:xfrm>
          <a:prstGeom prst="roundRect">
            <a:avLst/>
          </a:prstGeom>
          <a:solidFill>
            <a:srgbClr val="0F1226">
              <a:alpha val="78000"/>
            </a:srgbClr>
          </a:solidFill>
          <a:ln w="12700">
            <a:solidFill>
              <a:srgbClr val="C7D2FE">
                <a:alpha val="18000"/>
              </a:srgbClr>
            </a:solidFill>
          </a:ln>
        </p:spPr>
      </p:sp>
      <p:sp>
        <p:nvSpPr>
          <p:cNvPr id="251" name="StudyLogs dot"/>
          <p:cNvSpPr/>
          <p:nvPr/>
        </p:nvSpPr>
        <p:spPr>
          <a:xfrm>
            <a:off x="895350" y="4324350"/>
            <a:ext cx="95250" cy="95250"/>
          </a:xfrm>
          <a:prstGeom prst="ellipse">
            <a:avLst/>
          </a:prstGeom>
          <a:solidFill>
            <a:srgbClr val="E2574C"/>
          </a:solidFill>
          <a:ln>
            <a:noFill/>
          </a:ln>
        </p:spPr>
      </p:sp>
      <p:sp>
        <p:nvSpPr>
          <p:cNvPr id="252" name="StudyLogs heading"/>
          <p:cNvSpPr txBox="1"/>
          <p:nvPr/>
        </p:nvSpPr>
        <p:spPr>
          <a:xfrm>
            <a:off x="1085850" y="4248150"/>
            <a:ext cx="18669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1">
                <a:solidFill>
                  <a:srgbClr val="E2574C"/>
                </a:solidFill>
                <a:latin typeface="Aptos"/>
              </a:rPr>
              <a:t>StudyLogs</a:t>
            </a:r>
            <a:endParaRPr sz="2000"/>
          </a:p>
        </p:txBody>
      </p:sp>
      <p:sp>
        <p:nvSpPr>
          <p:cNvPr id="253" name="StudyLogs body"/>
          <p:cNvSpPr txBox="1"/>
          <p:nvPr/>
        </p:nvSpPr>
        <p:spPr>
          <a:xfrm>
            <a:off x="914400" y="4648200"/>
            <a:ext cx="20193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C7D2FE"/>
                </a:solidFill>
                <a:latin typeface="Aptos"/>
              </a:rPr>
              <a:t>Manual reviews with self-rating and notes.</a:t>
            </a:r>
            <a:endParaRPr sz="1600"/>
          </a:p>
        </p:txBody>
      </p:sp>
      <p:sp>
        <p:nvSpPr>
          <p:cNvPr id="260" name="GitHubConnections card"/>
          <p:cNvSpPr/>
          <p:nvPr/>
        </p:nvSpPr>
        <p:spPr>
          <a:xfrm>
            <a:off x="4857750" y="4095750"/>
            <a:ext cx="2476500" cy="1363218"/>
          </a:xfrm>
          <a:prstGeom prst="roundRect">
            <a:avLst/>
          </a:prstGeom>
          <a:solidFill>
            <a:srgbClr val="0F1226">
              <a:alpha val="78000"/>
            </a:srgbClr>
          </a:solidFill>
          <a:ln w="12700">
            <a:solidFill>
              <a:srgbClr val="C7D2FE">
                <a:alpha val="18000"/>
              </a:srgbClr>
            </a:solidFill>
          </a:ln>
        </p:spPr>
      </p:sp>
      <p:sp>
        <p:nvSpPr>
          <p:cNvPr id="261" name="GitHubConnections dot"/>
          <p:cNvSpPr/>
          <p:nvPr/>
        </p:nvSpPr>
        <p:spPr>
          <a:xfrm>
            <a:off x="5067300" y="4324350"/>
            <a:ext cx="95250" cy="95250"/>
          </a:xfrm>
          <a:prstGeom prst="ellipse">
            <a:avLst/>
          </a:prstGeom>
          <a:solidFill>
            <a:srgbClr val="00F5D4"/>
          </a:solidFill>
          <a:ln>
            <a:noFill/>
          </a:ln>
        </p:spPr>
      </p:sp>
      <p:sp>
        <p:nvSpPr>
          <p:cNvPr id="262" name="GitHubConnections heading"/>
          <p:cNvSpPr txBox="1"/>
          <p:nvPr/>
        </p:nvSpPr>
        <p:spPr>
          <a:xfrm>
            <a:off x="5257800" y="4248150"/>
            <a:ext cx="18669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400" b="1" dirty="0" err="1">
                <a:solidFill>
                  <a:srgbClr val="00F5D4"/>
                </a:solidFill>
                <a:latin typeface="Aptos"/>
              </a:rPr>
              <a:t>GitHubConnections</a:t>
            </a:r>
            <a:endParaRPr sz="1400" dirty="0"/>
          </a:p>
        </p:txBody>
      </p:sp>
      <p:sp>
        <p:nvSpPr>
          <p:cNvPr id="263" name="GitHubConnections body"/>
          <p:cNvSpPr txBox="1"/>
          <p:nvPr/>
        </p:nvSpPr>
        <p:spPr>
          <a:xfrm>
            <a:off x="5095875" y="4552188"/>
            <a:ext cx="20193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dirty="0">
                <a:solidFill>
                  <a:srgbClr val="C7D2FE"/>
                </a:solidFill>
                <a:latin typeface="Aptos"/>
              </a:rPr>
              <a:t>OAuth verified username, protected token, sync stats.</a:t>
            </a:r>
            <a:endParaRPr sz="1600" dirty="0"/>
          </a:p>
        </p:txBody>
      </p:sp>
      <p:sp>
        <p:nvSpPr>
          <p:cNvPr id="270" name="Notifications card"/>
          <p:cNvSpPr/>
          <p:nvPr/>
        </p:nvSpPr>
        <p:spPr>
          <a:xfrm>
            <a:off x="9029700" y="4095750"/>
            <a:ext cx="2476500" cy="1363218"/>
          </a:xfrm>
          <a:prstGeom prst="roundRect">
            <a:avLst/>
          </a:prstGeom>
          <a:solidFill>
            <a:srgbClr val="0F1226">
              <a:alpha val="78000"/>
            </a:srgbClr>
          </a:solidFill>
          <a:ln w="12700">
            <a:solidFill>
              <a:srgbClr val="C7D2FE">
                <a:alpha val="18000"/>
              </a:srgbClr>
            </a:solidFill>
          </a:ln>
        </p:spPr>
      </p:sp>
      <p:sp>
        <p:nvSpPr>
          <p:cNvPr id="271" name="Notifications dot"/>
          <p:cNvSpPr/>
          <p:nvPr/>
        </p:nvSpPr>
        <p:spPr>
          <a:xfrm>
            <a:off x="9239250" y="4324350"/>
            <a:ext cx="95250" cy="95250"/>
          </a:xfrm>
          <a:prstGeom prst="ellipse">
            <a:avLst/>
          </a:prstGeom>
          <a:solidFill>
            <a:srgbClr val="FFB703"/>
          </a:solidFill>
          <a:ln>
            <a:noFill/>
          </a:ln>
        </p:spPr>
      </p:sp>
      <p:sp>
        <p:nvSpPr>
          <p:cNvPr id="272" name="Notifications heading"/>
          <p:cNvSpPr txBox="1"/>
          <p:nvPr/>
        </p:nvSpPr>
        <p:spPr>
          <a:xfrm>
            <a:off x="9429750" y="4248150"/>
            <a:ext cx="18669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1">
                <a:solidFill>
                  <a:srgbClr val="FFB703"/>
                </a:solidFill>
                <a:latin typeface="Aptos"/>
              </a:rPr>
              <a:t>Notifications</a:t>
            </a:r>
            <a:endParaRPr sz="2000"/>
          </a:p>
        </p:txBody>
      </p:sp>
      <p:sp>
        <p:nvSpPr>
          <p:cNvPr id="273" name="Notifications body"/>
          <p:cNvSpPr txBox="1"/>
          <p:nvPr/>
        </p:nvSpPr>
        <p:spPr>
          <a:xfrm>
            <a:off x="9258300" y="4648200"/>
            <a:ext cx="20193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dirty="0">
                <a:solidFill>
                  <a:srgbClr val="C7D2FE"/>
                </a:solidFill>
                <a:latin typeface="Aptos"/>
              </a:rPr>
              <a:t>Mentor reminders linked to learner, mentor, and skill.</a:t>
            </a:r>
            <a:endParaRPr sz="1600" dirty="0"/>
          </a:p>
        </p:txBody>
      </p:sp>
      <p:cxnSp>
        <p:nvCxnSpPr>
          <p:cNvPr id="280" name="u-s"/>
          <p:cNvCxnSpPr/>
          <p:nvPr/>
        </p:nvCxnSpPr>
        <p:spPr>
          <a:xfrm>
            <a:off x="3162300" y="2571750"/>
            <a:ext cx="1695450" cy="9525"/>
          </a:xfrm>
          <a:prstGeom prst="line">
            <a:avLst/>
          </a:prstGeom>
          <a:ln w="25400">
            <a:solidFill>
              <a:srgbClr val="C7D2FE"/>
            </a:solidFill>
          </a:ln>
        </p:spPr>
      </p:cxnSp>
      <p:cxnSp>
        <p:nvCxnSpPr>
          <p:cNvPr id="281" name="s-m"/>
          <p:cNvCxnSpPr/>
          <p:nvPr/>
        </p:nvCxnSpPr>
        <p:spPr>
          <a:xfrm>
            <a:off x="7334250" y="2571750"/>
            <a:ext cx="1695450" cy="9525"/>
          </a:xfrm>
          <a:prstGeom prst="line">
            <a:avLst/>
          </a:prstGeom>
          <a:ln w="25400">
            <a:solidFill>
              <a:srgbClr val="C7D2FE"/>
            </a:solidFill>
          </a:ln>
        </p:spPr>
      </p:cxnSp>
      <p:cxnSp>
        <p:nvCxnSpPr>
          <p:cNvPr id="282" name="s-log"/>
          <p:cNvCxnSpPr/>
          <p:nvPr/>
        </p:nvCxnSpPr>
        <p:spPr>
          <a:xfrm flipH="1">
            <a:off x="1924050" y="3238500"/>
            <a:ext cx="4171950" cy="857250"/>
          </a:xfrm>
          <a:prstGeom prst="line">
            <a:avLst/>
          </a:prstGeom>
          <a:ln w="25400">
            <a:solidFill>
              <a:srgbClr val="C7D2FE"/>
            </a:solidFill>
          </a:ln>
        </p:spPr>
      </p:cxnSp>
      <p:cxnSp>
        <p:nvCxnSpPr>
          <p:cNvPr id="283" name="s-gh"/>
          <p:cNvCxnSpPr/>
          <p:nvPr/>
        </p:nvCxnSpPr>
        <p:spPr>
          <a:xfrm>
            <a:off x="6096000" y="3238500"/>
            <a:ext cx="9525" cy="857250"/>
          </a:xfrm>
          <a:prstGeom prst="line">
            <a:avLst/>
          </a:prstGeom>
          <a:ln w="25400">
            <a:solidFill>
              <a:srgbClr val="C7D2FE"/>
            </a:solidFill>
          </a:ln>
        </p:spPr>
      </p:cxnSp>
      <p:cxnSp>
        <p:nvCxnSpPr>
          <p:cNvPr id="284" name="s-notif"/>
          <p:cNvCxnSpPr/>
          <p:nvPr/>
        </p:nvCxnSpPr>
        <p:spPr>
          <a:xfrm>
            <a:off x="6096000" y="3238500"/>
            <a:ext cx="4171950" cy="857250"/>
          </a:xfrm>
          <a:prstGeom prst="line">
            <a:avLst/>
          </a:prstGeom>
          <a:ln w="25400">
            <a:solidFill>
              <a:srgbClr val="C7D2FE"/>
            </a:solidFill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nebula-top"/>
          <p:cNvSpPr/>
          <p:nvPr/>
        </p:nvSpPr>
        <p:spPr>
          <a:xfrm>
            <a:off x="-857250" y="-1143000"/>
            <a:ext cx="4953000" cy="3429000"/>
          </a:xfrm>
          <a:prstGeom prst="ellipse">
            <a:avLst/>
          </a:prstGeom>
          <a:solidFill>
            <a:srgbClr val="6366F1">
              <a:alpha val="18000"/>
            </a:srgbClr>
          </a:solidFill>
          <a:ln>
            <a:noFill/>
          </a:ln>
        </p:spPr>
      </p:sp>
      <p:sp>
        <p:nvSpPr>
          <p:cNvPr id="3" name="nebula-right"/>
          <p:cNvSpPr/>
          <p:nvPr/>
        </p:nvSpPr>
        <p:spPr>
          <a:xfrm>
            <a:off x="8858250" y="762000"/>
            <a:ext cx="4381500" cy="4381500"/>
          </a:xfrm>
          <a:prstGeom prst="ellipse">
            <a:avLst/>
          </a:prstGeom>
          <a:solidFill>
            <a:srgbClr val="00F5D4">
              <a:alpha val="10000"/>
            </a:srgbClr>
          </a:solidFill>
          <a:ln>
            <a:noFill/>
          </a:ln>
        </p:spPr>
      </p:sp>
      <p:sp>
        <p:nvSpPr>
          <p:cNvPr id="500" name="star-0"/>
          <p:cNvSpPr/>
          <p:nvPr/>
        </p:nvSpPr>
        <p:spPr>
          <a:xfrm>
            <a:off x="514350" y="838200"/>
            <a:ext cx="38100" cy="38100"/>
          </a:xfrm>
          <a:prstGeom prst="ellipse">
            <a:avLst/>
          </a:prstGeom>
          <a:solidFill>
            <a:srgbClr val="00F5D4">
              <a:alpha val="85000"/>
            </a:srgbClr>
          </a:solidFill>
          <a:ln>
            <a:noFill/>
          </a:ln>
        </p:spPr>
      </p:sp>
      <p:sp>
        <p:nvSpPr>
          <p:cNvPr id="501" name="star-1"/>
          <p:cNvSpPr/>
          <p:nvPr/>
        </p:nvSpPr>
        <p:spPr>
          <a:xfrm>
            <a:off x="1752600" y="590550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02" name="star-2"/>
          <p:cNvSpPr/>
          <p:nvPr/>
        </p:nvSpPr>
        <p:spPr>
          <a:xfrm>
            <a:off x="2362200" y="99060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03" name="star-3"/>
          <p:cNvSpPr/>
          <p:nvPr/>
        </p:nvSpPr>
        <p:spPr>
          <a:xfrm>
            <a:off x="3352800" y="5219700"/>
            <a:ext cx="38100" cy="38100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04" name="star-4"/>
          <p:cNvSpPr/>
          <p:nvPr/>
        </p:nvSpPr>
        <p:spPr>
          <a:xfrm>
            <a:off x="4533900" y="685800"/>
            <a:ext cx="28575" cy="28575"/>
          </a:xfrm>
          <a:prstGeom prst="ellipse">
            <a:avLst/>
          </a:prstGeom>
          <a:solidFill>
            <a:srgbClr val="00F5D4">
              <a:alpha val="85000"/>
            </a:srgbClr>
          </a:solidFill>
          <a:ln>
            <a:noFill/>
          </a:ln>
        </p:spPr>
      </p:sp>
      <p:sp>
        <p:nvSpPr>
          <p:cNvPr id="505" name="star-5"/>
          <p:cNvSpPr/>
          <p:nvPr/>
        </p:nvSpPr>
        <p:spPr>
          <a:xfrm>
            <a:off x="5829300" y="607695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06" name="star-6"/>
          <p:cNvSpPr/>
          <p:nvPr/>
        </p:nvSpPr>
        <p:spPr>
          <a:xfrm>
            <a:off x="7067550" y="1200150"/>
            <a:ext cx="38100" cy="38100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07" name="star-7"/>
          <p:cNvSpPr/>
          <p:nvPr/>
        </p:nvSpPr>
        <p:spPr>
          <a:xfrm>
            <a:off x="8782050" y="567690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08" name="star-8"/>
          <p:cNvSpPr/>
          <p:nvPr/>
        </p:nvSpPr>
        <p:spPr>
          <a:xfrm>
            <a:off x="10172700" y="876300"/>
            <a:ext cx="28575" cy="28575"/>
          </a:xfrm>
          <a:prstGeom prst="ellipse">
            <a:avLst/>
          </a:prstGeom>
          <a:solidFill>
            <a:srgbClr val="00F5D4">
              <a:alpha val="85000"/>
            </a:srgbClr>
          </a:solidFill>
          <a:ln>
            <a:noFill/>
          </a:ln>
        </p:spPr>
      </p:sp>
      <p:sp>
        <p:nvSpPr>
          <p:cNvPr id="509" name="star-9"/>
          <p:cNvSpPr/>
          <p:nvPr/>
        </p:nvSpPr>
        <p:spPr>
          <a:xfrm>
            <a:off x="11315700" y="6115050"/>
            <a:ext cx="38100" cy="38100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10" name="star-10"/>
          <p:cNvSpPr/>
          <p:nvPr/>
        </p:nvSpPr>
        <p:spPr>
          <a:xfrm>
            <a:off x="11525250" y="213360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11" name="star-11"/>
          <p:cNvSpPr/>
          <p:nvPr/>
        </p:nvSpPr>
        <p:spPr>
          <a:xfrm>
            <a:off x="819150" y="384810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12" name="star-12"/>
          <p:cNvSpPr/>
          <p:nvPr/>
        </p:nvSpPr>
        <p:spPr>
          <a:xfrm>
            <a:off x="9639300" y="3429000"/>
            <a:ext cx="38100" cy="38100"/>
          </a:xfrm>
          <a:prstGeom prst="ellipse">
            <a:avLst/>
          </a:prstGeom>
          <a:solidFill>
            <a:srgbClr val="00F5D4">
              <a:alpha val="85000"/>
            </a:srgbClr>
          </a:solidFill>
          <a:ln>
            <a:noFill/>
          </a:ln>
        </p:spPr>
      </p:sp>
      <p:sp>
        <p:nvSpPr>
          <p:cNvPr id="513" name="star-13"/>
          <p:cNvSpPr/>
          <p:nvPr/>
        </p:nvSpPr>
        <p:spPr>
          <a:xfrm>
            <a:off x="6762750" y="483870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20" name="slide-number"/>
          <p:cNvSpPr txBox="1"/>
          <p:nvPr/>
        </p:nvSpPr>
        <p:spPr>
          <a:xfrm>
            <a:off x="10839450" y="400050"/>
            <a:ext cx="666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en-US" sz="1400" b="1">
                <a:solidFill>
                  <a:srgbClr val="94A3B8"/>
                </a:solidFill>
                <a:latin typeface="Aptos"/>
              </a:rPr>
              <a:t>08</a:t>
            </a:r>
            <a:endParaRPr sz="1400"/>
          </a:p>
        </p:txBody>
      </p:sp>
      <p:sp>
        <p:nvSpPr>
          <p:cNvPr id="21" name="eyebrow"/>
          <p:cNvSpPr txBox="1"/>
          <p:nvPr/>
        </p:nvSpPr>
        <p:spPr>
          <a:xfrm>
            <a:off x="685800" y="400050"/>
            <a:ext cx="15240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400" b="1">
                <a:solidFill>
                  <a:srgbClr val="00F5D4"/>
                </a:solidFill>
                <a:latin typeface="Aptos"/>
              </a:rPr>
              <a:t>ASTRAEA</a:t>
            </a:r>
            <a:endParaRPr sz="1400"/>
          </a:p>
        </p:txBody>
      </p:sp>
      <p:sp>
        <p:nvSpPr>
          <p:cNvPr id="22" name="title"/>
          <p:cNvSpPr txBox="1"/>
          <p:nvPr/>
        </p:nvSpPr>
        <p:spPr>
          <a:xfrm>
            <a:off x="685800" y="800100"/>
            <a:ext cx="9299448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600" b="1" dirty="0">
                <a:solidFill>
                  <a:srgbClr val="C7D2FE"/>
                </a:solidFill>
                <a:latin typeface="Aptos"/>
              </a:rPr>
              <a:t>Integrations, </a:t>
            </a:r>
            <a:r>
              <a:rPr lang="en-US" sz="3600" b="1" dirty="0" smtClean="0">
                <a:solidFill>
                  <a:srgbClr val="C7D2FE"/>
                </a:solidFill>
                <a:latin typeface="Aptos"/>
              </a:rPr>
              <a:t>Real-time</a:t>
            </a:r>
            <a:r>
              <a:rPr lang="en-US" sz="3600" b="1" dirty="0">
                <a:solidFill>
                  <a:srgbClr val="C7D2FE"/>
                </a:solidFill>
                <a:latin typeface="Aptos"/>
              </a:rPr>
              <a:t>, and Automation</a:t>
            </a:r>
            <a:endParaRPr sz="3600" dirty="0"/>
          </a:p>
        </p:txBody>
      </p:sp>
      <p:sp>
        <p:nvSpPr>
          <p:cNvPr id="23" name="subtitle"/>
          <p:cNvSpPr txBox="1"/>
          <p:nvPr/>
        </p:nvSpPr>
        <p:spPr>
          <a:xfrm>
            <a:off x="704850" y="1390650"/>
            <a:ext cx="72390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94A3B8"/>
                </a:solidFill>
                <a:latin typeface="Aptos"/>
              </a:rPr>
              <a:t>External practice and real-time updates make the map feel alive.</a:t>
            </a:r>
            <a:endParaRPr sz="1600"/>
          </a:p>
        </p:txBody>
      </p:sp>
      <p:sp>
        <p:nvSpPr>
          <p:cNvPr id="290" name="GitHub OAuth card"/>
          <p:cNvSpPr/>
          <p:nvPr/>
        </p:nvSpPr>
        <p:spPr>
          <a:xfrm>
            <a:off x="809625" y="2190750"/>
            <a:ext cx="3048000" cy="1762125"/>
          </a:xfrm>
          <a:prstGeom prst="roundRect">
            <a:avLst/>
          </a:prstGeom>
          <a:solidFill>
            <a:srgbClr val="0F1226">
              <a:alpha val="78000"/>
            </a:srgbClr>
          </a:solidFill>
          <a:ln w="12700">
            <a:solidFill>
              <a:srgbClr val="C7D2FE">
                <a:alpha val="18000"/>
              </a:srgbClr>
            </a:solidFill>
          </a:ln>
        </p:spPr>
      </p:sp>
      <p:sp>
        <p:nvSpPr>
          <p:cNvPr id="291" name="GitHub OAuth dot"/>
          <p:cNvSpPr/>
          <p:nvPr/>
        </p:nvSpPr>
        <p:spPr>
          <a:xfrm>
            <a:off x="1019175" y="2419350"/>
            <a:ext cx="95250" cy="95250"/>
          </a:xfrm>
          <a:prstGeom prst="ellipse">
            <a:avLst/>
          </a:prstGeom>
          <a:solidFill>
            <a:srgbClr val="00F5D4"/>
          </a:solidFill>
          <a:ln>
            <a:noFill/>
          </a:ln>
        </p:spPr>
      </p:sp>
      <p:sp>
        <p:nvSpPr>
          <p:cNvPr id="292" name="GitHub OAuth heading"/>
          <p:cNvSpPr txBox="1"/>
          <p:nvPr/>
        </p:nvSpPr>
        <p:spPr>
          <a:xfrm>
            <a:off x="1209675" y="2343150"/>
            <a:ext cx="24384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1">
                <a:solidFill>
                  <a:srgbClr val="00F5D4"/>
                </a:solidFill>
                <a:latin typeface="Aptos"/>
              </a:rPr>
              <a:t>GitHub OAuth</a:t>
            </a:r>
            <a:endParaRPr sz="2000"/>
          </a:p>
        </p:txBody>
      </p:sp>
      <p:sp>
        <p:nvSpPr>
          <p:cNvPr id="293" name="GitHub OAuth body"/>
          <p:cNvSpPr txBox="1"/>
          <p:nvPr/>
        </p:nvSpPr>
        <p:spPr>
          <a:xfrm>
            <a:off x="1038225" y="2743200"/>
            <a:ext cx="2590800" cy="1076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C7D2FE"/>
                </a:solidFill>
                <a:latin typeface="Aptos"/>
              </a:rPr>
              <a:t>Learners connect their real GitHub account. OAuth verifies ownership before sync.</a:t>
            </a:r>
            <a:endParaRPr sz="1600"/>
          </a:p>
        </p:txBody>
      </p:sp>
      <p:sp>
        <p:nvSpPr>
          <p:cNvPr id="300" name="Nightly Sync card"/>
          <p:cNvSpPr/>
          <p:nvPr/>
        </p:nvSpPr>
        <p:spPr>
          <a:xfrm>
            <a:off x="4572000" y="2190750"/>
            <a:ext cx="3048000" cy="1762125"/>
          </a:xfrm>
          <a:prstGeom prst="roundRect">
            <a:avLst/>
          </a:prstGeom>
          <a:solidFill>
            <a:srgbClr val="0F1226">
              <a:alpha val="78000"/>
            </a:srgbClr>
          </a:solidFill>
          <a:ln w="12700">
            <a:solidFill>
              <a:srgbClr val="C7D2FE">
                <a:alpha val="18000"/>
              </a:srgbClr>
            </a:solidFill>
          </a:ln>
        </p:spPr>
      </p:sp>
      <p:sp>
        <p:nvSpPr>
          <p:cNvPr id="301" name="Nightly Sync dot"/>
          <p:cNvSpPr/>
          <p:nvPr/>
        </p:nvSpPr>
        <p:spPr>
          <a:xfrm>
            <a:off x="4781550" y="2419350"/>
            <a:ext cx="95250" cy="95250"/>
          </a:xfrm>
          <a:prstGeom prst="ellipse">
            <a:avLst/>
          </a:prstGeom>
          <a:solidFill>
            <a:srgbClr val="FFB703"/>
          </a:solidFill>
          <a:ln>
            <a:noFill/>
          </a:ln>
        </p:spPr>
      </p:sp>
      <p:sp>
        <p:nvSpPr>
          <p:cNvPr id="302" name="Nightly Sync heading"/>
          <p:cNvSpPr txBox="1"/>
          <p:nvPr/>
        </p:nvSpPr>
        <p:spPr>
          <a:xfrm>
            <a:off x="4972050" y="2343150"/>
            <a:ext cx="24384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1">
                <a:solidFill>
                  <a:srgbClr val="FFB703"/>
                </a:solidFill>
                <a:latin typeface="Aptos"/>
              </a:rPr>
              <a:t>Nightly Sync</a:t>
            </a:r>
            <a:endParaRPr sz="2000"/>
          </a:p>
        </p:txBody>
      </p:sp>
      <p:sp>
        <p:nvSpPr>
          <p:cNvPr id="303" name="Nightly Sync body"/>
          <p:cNvSpPr txBox="1"/>
          <p:nvPr/>
        </p:nvSpPr>
        <p:spPr>
          <a:xfrm>
            <a:off x="4800600" y="2743200"/>
            <a:ext cx="2590800" cy="1076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C7D2FE"/>
                </a:solidFill>
                <a:latin typeface="Aptos"/>
              </a:rPr>
              <a:t>Background service checks connected learners, imports signals, and recalculates retention.</a:t>
            </a:r>
            <a:endParaRPr sz="1600"/>
          </a:p>
        </p:txBody>
      </p:sp>
      <p:sp>
        <p:nvSpPr>
          <p:cNvPr id="310" name="SignalR Broadcast card"/>
          <p:cNvSpPr/>
          <p:nvPr/>
        </p:nvSpPr>
        <p:spPr>
          <a:xfrm>
            <a:off x="8334375" y="2190750"/>
            <a:ext cx="3048000" cy="1762125"/>
          </a:xfrm>
          <a:prstGeom prst="roundRect">
            <a:avLst/>
          </a:prstGeom>
          <a:solidFill>
            <a:srgbClr val="0F1226">
              <a:alpha val="78000"/>
            </a:srgbClr>
          </a:solidFill>
          <a:ln w="12700">
            <a:solidFill>
              <a:srgbClr val="C7D2FE">
                <a:alpha val="18000"/>
              </a:srgbClr>
            </a:solidFill>
          </a:ln>
        </p:spPr>
      </p:sp>
      <p:sp>
        <p:nvSpPr>
          <p:cNvPr id="311" name="SignalR Broadcast dot"/>
          <p:cNvSpPr/>
          <p:nvPr/>
        </p:nvSpPr>
        <p:spPr>
          <a:xfrm>
            <a:off x="8543925" y="2419350"/>
            <a:ext cx="95250" cy="95250"/>
          </a:xfrm>
          <a:prstGeom prst="ellipse">
            <a:avLst/>
          </a:prstGeom>
          <a:solidFill>
            <a:srgbClr val="E2574C"/>
          </a:solidFill>
          <a:ln>
            <a:noFill/>
          </a:ln>
        </p:spPr>
      </p:sp>
      <p:sp>
        <p:nvSpPr>
          <p:cNvPr id="312" name="SignalR Broadcast heading"/>
          <p:cNvSpPr txBox="1"/>
          <p:nvPr/>
        </p:nvSpPr>
        <p:spPr>
          <a:xfrm>
            <a:off x="8734425" y="2343150"/>
            <a:ext cx="24384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1">
                <a:solidFill>
                  <a:srgbClr val="E2574C"/>
                </a:solidFill>
                <a:latin typeface="Aptos"/>
              </a:rPr>
              <a:t>SignalR Broadcast</a:t>
            </a:r>
            <a:endParaRPr sz="2000"/>
          </a:p>
        </p:txBody>
      </p:sp>
      <p:sp>
        <p:nvSpPr>
          <p:cNvPr id="313" name="SignalR Broadcast body"/>
          <p:cNvSpPr txBox="1"/>
          <p:nvPr/>
        </p:nvSpPr>
        <p:spPr>
          <a:xfrm>
            <a:off x="8562975" y="2743200"/>
            <a:ext cx="2590800" cy="1076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C7D2FE"/>
                </a:solidFill>
                <a:latin typeface="Aptos"/>
              </a:rPr>
              <a:t>Skill status updates can be pushed to connected clients without a full refresh.</a:t>
            </a:r>
            <a:endParaRPr sz="1600"/>
          </a:p>
        </p:txBody>
      </p:sp>
      <p:cxnSp>
        <p:nvCxnSpPr>
          <p:cNvPr id="320" name="integrate-1"/>
          <p:cNvCxnSpPr/>
          <p:nvPr/>
        </p:nvCxnSpPr>
        <p:spPr>
          <a:xfrm>
            <a:off x="3857625" y="3048000"/>
            <a:ext cx="714375" cy="9525"/>
          </a:xfrm>
          <a:prstGeom prst="line">
            <a:avLst/>
          </a:prstGeom>
          <a:ln w="25400">
            <a:solidFill>
              <a:srgbClr val="C7D2FE"/>
            </a:solidFill>
          </a:ln>
        </p:spPr>
      </p:cxnSp>
      <p:cxnSp>
        <p:nvCxnSpPr>
          <p:cNvPr id="321" name="integrate-2"/>
          <p:cNvCxnSpPr/>
          <p:nvPr/>
        </p:nvCxnSpPr>
        <p:spPr>
          <a:xfrm>
            <a:off x="7620000" y="3048000"/>
            <a:ext cx="714375" cy="9525"/>
          </a:xfrm>
          <a:prstGeom prst="line">
            <a:avLst/>
          </a:prstGeom>
          <a:ln w="25400">
            <a:solidFill>
              <a:srgbClr val="C7D2FE"/>
            </a:solidFill>
          </a:ln>
        </p:spPr>
      </p:cxnSp>
      <p:sp>
        <p:nvSpPr>
          <p:cNvPr id="322" name="refresher"/>
          <p:cNvSpPr txBox="1"/>
          <p:nvPr/>
        </p:nvSpPr>
        <p:spPr>
          <a:xfrm>
            <a:off x="552450" y="4982337"/>
            <a:ext cx="102184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dirty="0">
                <a:solidFill>
                  <a:srgbClr val="C7D2FE"/>
                </a:solidFill>
                <a:latin typeface="Aptos"/>
              </a:rPr>
              <a:t>Refresher content uses skill-aware YouTube search links so fading skills have immediate review resources.</a:t>
            </a:r>
            <a:endParaRPr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nebula-top"/>
          <p:cNvSpPr/>
          <p:nvPr/>
        </p:nvSpPr>
        <p:spPr>
          <a:xfrm>
            <a:off x="-857250" y="-1143000"/>
            <a:ext cx="4953000" cy="3429000"/>
          </a:xfrm>
          <a:prstGeom prst="ellipse">
            <a:avLst/>
          </a:prstGeom>
          <a:solidFill>
            <a:srgbClr val="6366F1">
              <a:alpha val="18000"/>
            </a:srgbClr>
          </a:solidFill>
          <a:ln>
            <a:noFill/>
          </a:ln>
        </p:spPr>
      </p:sp>
      <p:sp>
        <p:nvSpPr>
          <p:cNvPr id="3" name="nebula-right"/>
          <p:cNvSpPr/>
          <p:nvPr/>
        </p:nvSpPr>
        <p:spPr>
          <a:xfrm>
            <a:off x="8858250" y="762000"/>
            <a:ext cx="4381500" cy="4381500"/>
          </a:xfrm>
          <a:prstGeom prst="ellipse">
            <a:avLst/>
          </a:prstGeom>
          <a:solidFill>
            <a:srgbClr val="00F5D4">
              <a:alpha val="10000"/>
            </a:srgbClr>
          </a:solidFill>
          <a:ln>
            <a:noFill/>
          </a:ln>
        </p:spPr>
      </p:sp>
      <p:sp>
        <p:nvSpPr>
          <p:cNvPr id="500" name="star-0"/>
          <p:cNvSpPr/>
          <p:nvPr/>
        </p:nvSpPr>
        <p:spPr>
          <a:xfrm>
            <a:off x="514350" y="838200"/>
            <a:ext cx="38100" cy="38100"/>
          </a:xfrm>
          <a:prstGeom prst="ellipse">
            <a:avLst/>
          </a:prstGeom>
          <a:solidFill>
            <a:srgbClr val="00F5D4">
              <a:alpha val="85000"/>
            </a:srgbClr>
          </a:solidFill>
          <a:ln>
            <a:noFill/>
          </a:ln>
        </p:spPr>
      </p:sp>
      <p:sp>
        <p:nvSpPr>
          <p:cNvPr id="501" name="star-1"/>
          <p:cNvSpPr/>
          <p:nvPr/>
        </p:nvSpPr>
        <p:spPr>
          <a:xfrm>
            <a:off x="1752600" y="590550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02" name="star-2"/>
          <p:cNvSpPr/>
          <p:nvPr/>
        </p:nvSpPr>
        <p:spPr>
          <a:xfrm>
            <a:off x="2362200" y="99060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03" name="star-3"/>
          <p:cNvSpPr/>
          <p:nvPr/>
        </p:nvSpPr>
        <p:spPr>
          <a:xfrm>
            <a:off x="3352800" y="5219700"/>
            <a:ext cx="38100" cy="38100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04" name="star-4"/>
          <p:cNvSpPr/>
          <p:nvPr/>
        </p:nvSpPr>
        <p:spPr>
          <a:xfrm>
            <a:off x="4533900" y="685800"/>
            <a:ext cx="28575" cy="28575"/>
          </a:xfrm>
          <a:prstGeom prst="ellipse">
            <a:avLst/>
          </a:prstGeom>
          <a:solidFill>
            <a:srgbClr val="00F5D4">
              <a:alpha val="85000"/>
            </a:srgbClr>
          </a:solidFill>
          <a:ln>
            <a:noFill/>
          </a:ln>
        </p:spPr>
      </p:sp>
      <p:sp>
        <p:nvSpPr>
          <p:cNvPr id="505" name="star-5"/>
          <p:cNvSpPr/>
          <p:nvPr/>
        </p:nvSpPr>
        <p:spPr>
          <a:xfrm>
            <a:off x="5829300" y="607695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06" name="star-6"/>
          <p:cNvSpPr/>
          <p:nvPr/>
        </p:nvSpPr>
        <p:spPr>
          <a:xfrm>
            <a:off x="7067550" y="1200150"/>
            <a:ext cx="38100" cy="38100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07" name="star-7"/>
          <p:cNvSpPr/>
          <p:nvPr/>
        </p:nvSpPr>
        <p:spPr>
          <a:xfrm>
            <a:off x="8782050" y="567690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08" name="star-8"/>
          <p:cNvSpPr/>
          <p:nvPr/>
        </p:nvSpPr>
        <p:spPr>
          <a:xfrm>
            <a:off x="10172700" y="876300"/>
            <a:ext cx="28575" cy="28575"/>
          </a:xfrm>
          <a:prstGeom prst="ellipse">
            <a:avLst/>
          </a:prstGeom>
          <a:solidFill>
            <a:srgbClr val="00F5D4">
              <a:alpha val="85000"/>
            </a:srgbClr>
          </a:solidFill>
          <a:ln>
            <a:noFill/>
          </a:ln>
        </p:spPr>
      </p:sp>
      <p:sp>
        <p:nvSpPr>
          <p:cNvPr id="509" name="star-9"/>
          <p:cNvSpPr/>
          <p:nvPr/>
        </p:nvSpPr>
        <p:spPr>
          <a:xfrm>
            <a:off x="11315700" y="6115050"/>
            <a:ext cx="38100" cy="38100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10" name="star-10"/>
          <p:cNvSpPr/>
          <p:nvPr/>
        </p:nvSpPr>
        <p:spPr>
          <a:xfrm>
            <a:off x="11525250" y="213360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11" name="star-11"/>
          <p:cNvSpPr/>
          <p:nvPr/>
        </p:nvSpPr>
        <p:spPr>
          <a:xfrm>
            <a:off x="819150" y="384810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12" name="star-12"/>
          <p:cNvSpPr/>
          <p:nvPr/>
        </p:nvSpPr>
        <p:spPr>
          <a:xfrm>
            <a:off x="9639300" y="3429000"/>
            <a:ext cx="38100" cy="38100"/>
          </a:xfrm>
          <a:prstGeom prst="ellipse">
            <a:avLst/>
          </a:prstGeom>
          <a:solidFill>
            <a:srgbClr val="00F5D4">
              <a:alpha val="85000"/>
            </a:srgbClr>
          </a:solidFill>
          <a:ln>
            <a:noFill/>
          </a:ln>
        </p:spPr>
      </p:sp>
      <p:sp>
        <p:nvSpPr>
          <p:cNvPr id="513" name="star-13"/>
          <p:cNvSpPr/>
          <p:nvPr/>
        </p:nvSpPr>
        <p:spPr>
          <a:xfrm>
            <a:off x="6762750" y="483870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20" name="slide-number"/>
          <p:cNvSpPr txBox="1"/>
          <p:nvPr/>
        </p:nvSpPr>
        <p:spPr>
          <a:xfrm>
            <a:off x="10839450" y="400050"/>
            <a:ext cx="666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en-US" sz="1400" b="1">
                <a:solidFill>
                  <a:srgbClr val="94A3B8"/>
                </a:solidFill>
                <a:latin typeface="Aptos"/>
              </a:rPr>
              <a:t>09</a:t>
            </a:r>
            <a:endParaRPr sz="1400"/>
          </a:p>
        </p:txBody>
      </p:sp>
      <p:sp>
        <p:nvSpPr>
          <p:cNvPr id="21" name="eyebrow"/>
          <p:cNvSpPr txBox="1"/>
          <p:nvPr/>
        </p:nvSpPr>
        <p:spPr>
          <a:xfrm>
            <a:off x="685800" y="400050"/>
            <a:ext cx="15240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400" b="1">
                <a:solidFill>
                  <a:srgbClr val="00F5D4"/>
                </a:solidFill>
                <a:latin typeface="Aptos"/>
              </a:rPr>
              <a:t>ASTRAEA</a:t>
            </a:r>
            <a:endParaRPr sz="1400"/>
          </a:p>
        </p:txBody>
      </p:sp>
      <p:sp>
        <p:nvSpPr>
          <p:cNvPr id="22" name="title"/>
          <p:cNvSpPr txBox="1"/>
          <p:nvPr/>
        </p:nvSpPr>
        <p:spPr>
          <a:xfrm>
            <a:off x="685800" y="800100"/>
            <a:ext cx="78105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600" b="1">
                <a:solidFill>
                  <a:srgbClr val="C7D2FE"/>
                </a:solidFill>
                <a:latin typeface="Aptos"/>
              </a:rPr>
              <a:t>Engineering Challenges</a:t>
            </a:r>
            <a:endParaRPr sz="3600"/>
          </a:p>
        </p:txBody>
      </p:sp>
      <p:sp>
        <p:nvSpPr>
          <p:cNvPr id="23" name="subtitle"/>
          <p:cNvSpPr txBox="1"/>
          <p:nvPr/>
        </p:nvSpPr>
        <p:spPr>
          <a:xfrm>
            <a:off x="704850" y="1390650"/>
            <a:ext cx="72390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94A3B8"/>
                </a:solidFill>
                <a:latin typeface="Aptos"/>
              </a:rPr>
              <a:t>The hard parts were mostly about correctness, ownership, and persistence.</a:t>
            </a:r>
            <a:endParaRPr sz="1600"/>
          </a:p>
        </p:txBody>
      </p:sp>
      <p:sp>
        <p:nvSpPr>
          <p:cNvPr id="330" name="challenge-frame"/>
          <p:cNvSpPr/>
          <p:nvPr/>
        </p:nvSpPr>
        <p:spPr>
          <a:xfrm>
            <a:off x="723900" y="1809750"/>
            <a:ext cx="10744200" cy="3714750"/>
          </a:xfrm>
          <a:prstGeom prst="roundRect">
            <a:avLst/>
          </a:prstGeom>
          <a:solidFill>
            <a:srgbClr val="0F1226">
              <a:alpha val="76000"/>
            </a:srgbClr>
          </a:solidFill>
          <a:ln w="12700">
            <a:solidFill>
              <a:srgbClr val="C7D2FE">
                <a:alpha val="18000"/>
              </a:srgbClr>
            </a:solidFill>
          </a:ln>
        </p:spPr>
      </p:sp>
      <p:sp>
        <p:nvSpPr>
          <p:cNvPr id="331" name="c1"/>
          <p:cNvSpPr txBox="1"/>
          <p:nvPr/>
        </p:nvSpPr>
        <p:spPr>
          <a:xfrm>
            <a:off x="1047750" y="2095500"/>
            <a:ext cx="21907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200" b="1">
                <a:solidFill>
                  <a:srgbClr val="00F5D4"/>
                </a:solidFill>
                <a:latin typeface="Aptos"/>
              </a:rPr>
              <a:t>Challenge</a:t>
            </a:r>
            <a:endParaRPr sz="2200"/>
          </a:p>
        </p:txBody>
      </p:sp>
      <p:sp>
        <p:nvSpPr>
          <p:cNvPr id="332" name="s1"/>
          <p:cNvSpPr txBox="1"/>
          <p:nvPr/>
        </p:nvSpPr>
        <p:spPr>
          <a:xfrm>
            <a:off x="4857750" y="2095500"/>
            <a:ext cx="21907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200" b="1">
                <a:solidFill>
                  <a:srgbClr val="00F5D4"/>
                </a:solidFill>
                <a:latin typeface="Aptos"/>
              </a:rPr>
              <a:t>Solution</a:t>
            </a:r>
            <a:endParaRPr sz="2200"/>
          </a:p>
        </p:txBody>
      </p:sp>
      <p:cxnSp>
        <p:nvCxnSpPr>
          <p:cNvPr id="333" name="rule"/>
          <p:cNvCxnSpPr/>
          <p:nvPr/>
        </p:nvCxnSpPr>
        <p:spPr>
          <a:xfrm>
            <a:off x="952500" y="2571750"/>
            <a:ext cx="10287000" cy="9525"/>
          </a:xfrm>
          <a:prstGeom prst="line">
            <a:avLst/>
          </a:prstGeom>
          <a:ln w="12700">
            <a:solidFill>
              <a:srgbClr val="C7D2FE"/>
            </a:solidFill>
          </a:ln>
        </p:spPr>
      </p:cxnSp>
      <p:sp>
        <p:nvSpPr>
          <p:cNvPr id="334" name="challenge-rows"/>
          <p:cNvSpPr txBox="1"/>
          <p:nvPr/>
        </p:nvSpPr>
        <p:spPr>
          <a:xfrm>
            <a:off x="1047750" y="2857500"/>
            <a:ext cx="3143250" cy="209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900" b="1">
                <a:solidFill>
                  <a:srgbClr val="C7D2FE"/>
                </a:solidFill>
                <a:latin typeface="Aptos"/>
              </a:rPr>
              <a:t>Role complexity</a:t>
            </a:r>
            <a:endParaRPr sz="1900"/>
          </a:p>
          <a:p>
            <a:pPr algn="l"/>
            <a:endParaRPr sz="1900"/>
          </a:p>
          <a:p>
            <a:pPr algn="l"/>
            <a:r>
              <a:rPr lang="en-US" sz="1900" b="1">
                <a:solidFill>
                  <a:srgbClr val="C7D2FE"/>
                </a:solidFill>
                <a:latin typeface="Aptos"/>
              </a:rPr>
              <a:t>Persistence after refresh</a:t>
            </a:r>
            <a:endParaRPr sz="1900"/>
          </a:p>
          <a:p>
            <a:pPr algn="l"/>
            <a:endParaRPr sz="1900"/>
          </a:p>
          <a:p>
            <a:pPr algn="l"/>
            <a:r>
              <a:rPr lang="en-US" sz="1900" b="1">
                <a:solidFill>
                  <a:srgbClr val="C7D2FE"/>
                </a:solidFill>
                <a:latin typeface="Aptos"/>
              </a:rPr>
              <a:t>GitHub ownership</a:t>
            </a:r>
            <a:endParaRPr sz="1900"/>
          </a:p>
          <a:p>
            <a:pPr algn="l"/>
            <a:endParaRPr sz="1900"/>
          </a:p>
          <a:p>
            <a:pPr algn="l"/>
            <a:r>
              <a:rPr lang="en-US" sz="1900" b="1">
                <a:solidFill>
                  <a:srgbClr val="C7D2FE"/>
                </a:solidFill>
                <a:latin typeface="Aptos"/>
              </a:rPr>
              <a:t>Readable responsive UI</a:t>
            </a:r>
            <a:endParaRPr sz="1900"/>
          </a:p>
        </p:txBody>
      </p:sp>
      <p:sp>
        <p:nvSpPr>
          <p:cNvPr id="335" name="solution-rows"/>
          <p:cNvSpPr txBox="1"/>
          <p:nvPr/>
        </p:nvSpPr>
        <p:spPr>
          <a:xfrm>
            <a:off x="4857750" y="2857500"/>
            <a:ext cx="5715000" cy="209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900">
                <a:solidFill>
                  <a:srgbClr val="94A3B8"/>
                </a:solidFill>
                <a:latin typeface="Aptos"/>
              </a:rPr>
              <a:t>Learner, Mentor, Both, and role-scoped controllers</a:t>
            </a:r>
            <a:endParaRPr sz="1900"/>
          </a:p>
          <a:p>
            <a:pPr algn="l"/>
            <a:endParaRPr sz="1900"/>
          </a:p>
          <a:p>
            <a:pPr algn="l"/>
            <a:r>
              <a:rPr lang="en-US" sz="1900">
                <a:solidFill>
                  <a:srgbClr val="94A3B8"/>
                </a:solidFill>
                <a:latin typeface="Aptos"/>
              </a:rPr>
              <a:t>EF Core storage for skills, prerequisites, abyss, reminders, and GitHub data</a:t>
            </a:r>
            <a:endParaRPr sz="1900"/>
          </a:p>
          <a:p>
            <a:pPr algn="l"/>
            <a:endParaRPr sz="1900"/>
          </a:p>
          <a:p>
            <a:pPr algn="l"/>
            <a:r>
              <a:rPr lang="en-US" sz="1900">
                <a:solidFill>
                  <a:srgbClr val="94A3B8"/>
                </a:solidFill>
                <a:latin typeface="Aptos"/>
              </a:rPr>
              <a:t>OAuth flow instead of trusting typed usernames</a:t>
            </a:r>
            <a:endParaRPr sz="1900"/>
          </a:p>
          <a:p>
            <a:pPr algn="l"/>
            <a:endParaRPr sz="1900"/>
          </a:p>
          <a:p>
            <a:pPr algn="l"/>
            <a:r>
              <a:rPr lang="en-US" sz="1900">
                <a:solidFill>
                  <a:srgbClr val="94A3B8"/>
                </a:solidFill>
                <a:latin typeface="Aptos"/>
              </a:rPr>
              <a:t>Hamburger navigation, glass panels, and canvas resize handling</a:t>
            </a:r>
            <a:endParaRPr sz="19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nebula-top"/>
          <p:cNvSpPr/>
          <p:nvPr/>
        </p:nvSpPr>
        <p:spPr>
          <a:xfrm>
            <a:off x="-857250" y="-1143000"/>
            <a:ext cx="4953000" cy="3429000"/>
          </a:xfrm>
          <a:prstGeom prst="ellipse">
            <a:avLst/>
          </a:prstGeom>
          <a:solidFill>
            <a:srgbClr val="6366F1">
              <a:alpha val="18000"/>
            </a:srgbClr>
          </a:solidFill>
          <a:ln>
            <a:noFill/>
          </a:ln>
        </p:spPr>
      </p:sp>
      <p:sp>
        <p:nvSpPr>
          <p:cNvPr id="3" name="nebula-right"/>
          <p:cNvSpPr/>
          <p:nvPr/>
        </p:nvSpPr>
        <p:spPr>
          <a:xfrm>
            <a:off x="8858250" y="762000"/>
            <a:ext cx="4381500" cy="4381500"/>
          </a:xfrm>
          <a:prstGeom prst="ellipse">
            <a:avLst/>
          </a:prstGeom>
          <a:solidFill>
            <a:srgbClr val="00F5D4">
              <a:alpha val="10000"/>
            </a:srgbClr>
          </a:solidFill>
          <a:ln>
            <a:noFill/>
          </a:ln>
        </p:spPr>
      </p:sp>
      <p:sp>
        <p:nvSpPr>
          <p:cNvPr id="500" name="star-0"/>
          <p:cNvSpPr/>
          <p:nvPr/>
        </p:nvSpPr>
        <p:spPr>
          <a:xfrm>
            <a:off x="514350" y="838200"/>
            <a:ext cx="38100" cy="38100"/>
          </a:xfrm>
          <a:prstGeom prst="ellipse">
            <a:avLst/>
          </a:prstGeom>
          <a:solidFill>
            <a:srgbClr val="00F5D4">
              <a:alpha val="85000"/>
            </a:srgbClr>
          </a:solidFill>
          <a:ln>
            <a:noFill/>
          </a:ln>
        </p:spPr>
      </p:sp>
      <p:sp>
        <p:nvSpPr>
          <p:cNvPr id="501" name="star-1"/>
          <p:cNvSpPr/>
          <p:nvPr/>
        </p:nvSpPr>
        <p:spPr>
          <a:xfrm>
            <a:off x="1752600" y="590550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02" name="star-2"/>
          <p:cNvSpPr/>
          <p:nvPr/>
        </p:nvSpPr>
        <p:spPr>
          <a:xfrm>
            <a:off x="2362200" y="99060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03" name="star-3"/>
          <p:cNvSpPr/>
          <p:nvPr/>
        </p:nvSpPr>
        <p:spPr>
          <a:xfrm>
            <a:off x="3352800" y="5219700"/>
            <a:ext cx="38100" cy="38100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04" name="star-4"/>
          <p:cNvSpPr/>
          <p:nvPr/>
        </p:nvSpPr>
        <p:spPr>
          <a:xfrm>
            <a:off x="4533900" y="685800"/>
            <a:ext cx="28575" cy="28575"/>
          </a:xfrm>
          <a:prstGeom prst="ellipse">
            <a:avLst/>
          </a:prstGeom>
          <a:solidFill>
            <a:srgbClr val="00F5D4">
              <a:alpha val="85000"/>
            </a:srgbClr>
          </a:solidFill>
          <a:ln>
            <a:noFill/>
          </a:ln>
        </p:spPr>
      </p:sp>
      <p:sp>
        <p:nvSpPr>
          <p:cNvPr id="505" name="star-5"/>
          <p:cNvSpPr/>
          <p:nvPr/>
        </p:nvSpPr>
        <p:spPr>
          <a:xfrm>
            <a:off x="5829300" y="607695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06" name="star-6"/>
          <p:cNvSpPr/>
          <p:nvPr/>
        </p:nvSpPr>
        <p:spPr>
          <a:xfrm>
            <a:off x="7067550" y="1200150"/>
            <a:ext cx="38100" cy="38100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07" name="star-7"/>
          <p:cNvSpPr/>
          <p:nvPr/>
        </p:nvSpPr>
        <p:spPr>
          <a:xfrm>
            <a:off x="8782050" y="567690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08" name="star-8"/>
          <p:cNvSpPr/>
          <p:nvPr/>
        </p:nvSpPr>
        <p:spPr>
          <a:xfrm>
            <a:off x="10172700" y="876300"/>
            <a:ext cx="28575" cy="28575"/>
          </a:xfrm>
          <a:prstGeom prst="ellipse">
            <a:avLst/>
          </a:prstGeom>
          <a:solidFill>
            <a:srgbClr val="00F5D4">
              <a:alpha val="85000"/>
            </a:srgbClr>
          </a:solidFill>
          <a:ln>
            <a:noFill/>
          </a:ln>
        </p:spPr>
      </p:sp>
      <p:sp>
        <p:nvSpPr>
          <p:cNvPr id="509" name="star-9"/>
          <p:cNvSpPr/>
          <p:nvPr/>
        </p:nvSpPr>
        <p:spPr>
          <a:xfrm>
            <a:off x="11315700" y="6115050"/>
            <a:ext cx="38100" cy="38100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10" name="star-10"/>
          <p:cNvSpPr/>
          <p:nvPr/>
        </p:nvSpPr>
        <p:spPr>
          <a:xfrm>
            <a:off x="11525250" y="213360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11" name="star-11"/>
          <p:cNvSpPr/>
          <p:nvPr/>
        </p:nvSpPr>
        <p:spPr>
          <a:xfrm>
            <a:off x="819150" y="384810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512" name="star-12"/>
          <p:cNvSpPr/>
          <p:nvPr/>
        </p:nvSpPr>
        <p:spPr>
          <a:xfrm>
            <a:off x="9639300" y="3429000"/>
            <a:ext cx="38100" cy="38100"/>
          </a:xfrm>
          <a:prstGeom prst="ellipse">
            <a:avLst/>
          </a:prstGeom>
          <a:solidFill>
            <a:srgbClr val="00F5D4">
              <a:alpha val="85000"/>
            </a:srgbClr>
          </a:solidFill>
          <a:ln>
            <a:noFill/>
          </a:ln>
        </p:spPr>
      </p:sp>
      <p:sp>
        <p:nvSpPr>
          <p:cNvPr id="513" name="star-13"/>
          <p:cNvSpPr/>
          <p:nvPr/>
        </p:nvSpPr>
        <p:spPr>
          <a:xfrm>
            <a:off x="6762750" y="4838700"/>
            <a:ext cx="28575" cy="28575"/>
          </a:xfrm>
          <a:prstGeom prst="ellipse">
            <a:avLst/>
          </a:prstGeom>
          <a:solidFill>
            <a:srgbClr val="C7D2FE">
              <a:alpha val="45000"/>
            </a:srgbClr>
          </a:solidFill>
          <a:ln>
            <a:noFill/>
          </a:ln>
        </p:spPr>
      </p:sp>
      <p:sp>
        <p:nvSpPr>
          <p:cNvPr id="20" name="slide-number"/>
          <p:cNvSpPr txBox="1"/>
          <p:nvPr/>
        </p:nvSpPr>
        <p:spPr>
          <a:xfrm>
            <a:off x="10839450" y="400050"/>
            <a:ext cx="666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en-US" sz="1400" b="1">
                <a:solidFill>
                  <a:srgbClr val="94A3B8"/>
                </a:solidFill>
                <a:latin typeface="Aptos"/>
              </a:rPr>
              <a:t>10</a:t>
            </a:r>
            <a:endParaRPr sz="1400"/>
          </a:p>
        </p:txBody>
      </p:sp>
      <p:sp>
        <p:nvSpPr>
          <p:cNvPr id="21" name="eyebrow"/>
          <p:cNvSpPr txBox="1"/>
          <p:nvPr/>
        </p:nvSpPr>
        <p:spPr>
          <a:xfrm>
            <a:off x="685800" y="400050"/>
            <a:ext cx="15240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400" b="1">
                <a:solidFill>
                  <a:srgbClr val="00F5D4"/>
                </a:solidFill>
                <a:latin typeface="Aptos"/>
              </a:rPr>
              <a:t>ASTRAEA</a:t>
            </a:r>
            <a:endParaRPr sz="1400"/>
          </a:p>
        </p:txBody>
      </p:sp>
      <p:sp>
        <p:nvSpPr>
          <p:cNvPr id="22" name="title"/>
          <p:cNvSpPr txBox="1"/>
          <p:nvPr/>
        </p:nvSpPr>
        <p:spPr>
          <a:xfrm>
            <a:off x="685800" y="800100"/>
            <a:ext cx="78105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600" b="1">
                <a:solidFill>
                  <a:srgbClr val="C7D2FE"/>
                </a:solidFill>
                <a:latin typeface="Aptos"/>
              </a:rPr>
              <a:t>Submission Readiness</a:t>
            </a:r>
            <a:endParaRPr sz="3600"/>
          </a:p>
        </p:txBody>
      </p:sp>
      <p:sp>
        <p:nvSpPr>
          <p:cNvPr id="23" name="subtitle"/>
          <p:cNvSpPr txBox="1"/>
          <p:nvPr/>
        </p:nvSpPr>
        <p:spPr>
          <a:xfrm>
            <a:off x="704850" y="1390650"/>
            <a:ext cx="72390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94A3B8"/>
                </a:solidFill>
                <a:latin typeface="Aptos"/>
              </a:rPr>
              <a:t>Astraea now covers the required backend, frontend, and extra-credit expectations except AI, which was intentionally skipped.</a:t>
            </a:r>
            <a:endParaRPr sz="1600"/>
          </a:p>
        </p:txBody>
      </p:sp>
      <p:sp>
        <p:nvSpPr>
          <p:cNvPr id="340" name="Core Requirements card"/>
          <p:cNvSpPr/>
          <p:nvPr/>
        </p:nvSpPr>
        <p:spPr>
          <a:xfrm>
            <a:off x="685800" y="2047874"/>
            <a:ext cx="3286125" cy="1990725"/>
          </a:xfrm>
          <a:prstGeom prst="roundRect">
            <a:avLst/>
          </a:prstGeom>
          <a:solidFill>
            <a:srgbClr val="0F1226">
              <a:alpha val="78000"/>
            </a:srgbClr>
          </a:solidFill>
          <a:ln w="12700">
            <a:solidFill>
              <a:srgbClr val="C7D2FE">
                <a:alpha val="18000"/>
              </a:srgbClr>
            </a:solidFill>
          </a:ln>
        </p:spPr>
      </p:sp>
      <p:sp>
        <p:nvSpPr>
          <p:cNvPr id="341" name="Core Requirements dot"/>
          <p:cNvSpPr/>
          <p:nvPr/>
        </p:nvSpPr>
        <p:spPr>
          <a:xfrm>
            <a:off x="895350" y="2276475"/>
            <a:ext cx="95250" cy="95250"/>
          </a:xfrm>
          <a:prstGeom prst="ellipse">
            <a:avLst/>
          </a:prstGeom>
          <a:solidFill>
            <a:srgbClr val="00F5D4"/>
          </a:solidFill>
          <a:ln>
            <a:noFill/>
          </a:ln>
        </p:spPr>
      </p:sp>
      <p:sp>
        <p:nvSpPr>
          <p:cNvPr id="342" name="Core Requirements heading"/>
          <p:cNvSpPr txBox="1"/>
          <p:nvPr/>
        </p:nvSpPr>
        <p:spPr>
          <a:xfrm>
            <a:off x="1085850" y="2200275"/>
            <a:ext cx="2676525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1">
                <a:solidFill>
                  <a:srgbClr val="00F5D4"/>
                </a:solidFill>
                <a:latin typeface="Aptos"/>
              </a:rPr>
              <a:t>Core Requirements</a:t>
            </a:r>
            <a:endParaRPr sz="2000"/>
          </a:p>
        </p:txBody>
      </p:sp>
      <p:sp>
        <p:nvSpPr>
          <p:cNvPr id="343" name="Core Requirements body"/>
          <p:cNvSpPr txBox="1"/>
          <p:nvPr/>
        </p:nvSpPr>
        <p:spPr>
          <a:xfrm>
            <a:off x="914400" y="2600325"/>
            <a:ext cx="2828925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C7D2FE"/>
                </a:solidFill>
                <a:latin typeface="Aptos"/>
              </a:rPr>
              <a:t>4 layers, repository pattern, Unit of Work, authentication, roles, APIs, validation, tests, dashboards, responsive theme.</a:t>
            </a:r>
            <a:endParaRPr sz="1600"/>
          </a:p>
        </p:txBody>
      </p:sp>
      <p:sp>
        <p:nvSpPr>
          <p:cNvPr id="350" name="Extra Features card"/>
          <p:cNvSpPr/>
          <p:nvPr/>
        </p:nvSpPr>
        <p:spPr>
          <a:xfrm>
            <a:off x="4457700" y="2047874"/>
            <a:ext cx="3286125" cy="1800225"/>
          </a:xfrm>
          <a:prstGeom prst="roundRect">
            <a:avLst/>
          </a:prstGeom>
          <a:solidFill>
            <a:srgbClr val="0F1226">
              <a:alpha val="78000"/>
            </a:srgbClr>
          </a:solidFill>
          <a:ln w="12700">
            <a:solidFill>
              <a:srgbClr val="C7D2FE">
                <a:alpha val="18000"/>
              </a:srgbClr>
            </a:solidFill>
          </a:ln>
        </p:spPr>
      </p:sp>
      <p:sp>
        <p:nvSpPr>
          <p:cNvPr id="351" name="Extra Features dot"/>
          <p:cNvSpPr/>
          <p:nvPr/>
        </p:nvSpPr>
        <p:spPr>
          <a:xfrm>
            <a:off x="4667250" y="2276475"/>
            <a:ext cx="95250" cy="95250"/>
          </a:xfrm>
          <a:prstGeom prst="ellipse">
            <a:avLst/>
          </a:prstGeom>
          <a:solidFill>
            <a:srgbClr val="FFB703"/>
          </a:solidFill>
          <a:ln>
            <a:noFill/>
          </a:ln>
        </p:spPr>
      </p:sp>
      <p:sp>
        <p:nvSpPr>
          <p:cNvPr id="352" name="Extra Features heading"/>
          <p:cNvSpPr txBox="1"/>
          <p:nvPr/>
        </p:nvSpPr>
        <p:spPr>
          <a:xfrm>
            <a:off x="4857750" y="2200275"/>
            <a:ext cx="2676525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1">
                <a:solidFill>
                  <a:srgbClr val="FFB703"/>
                </a:solidFill>
                <a:latin typeface="Aptos"/>
              </a:rPr>
              <a:t>Extra Features</a:t>
            </a:r>
            <a:endParaRPr sz="2000"/>
          </a:p>
        </p:txBody>
      </p:sp>
      <p:sp>
        <p:nvSpPr>
          <p:cNvPr id="353" name="Extra Features body"/>
          <p:cNvSpPr txBox="1"/>
          <p:nvPr/>
        </p:nvSpPr>
        <p:spPr>
          <a:xfrm>
            <a:off x="4686300" y="2600325"/>
            <a:ext cx="2828925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>
                <a:solidFill>
                  <a:srgbClr val="C7D2FE"/>
                </a:solidFill>
                <a:latin typeface="Aptos"/>
              </a:rPr>
              <a:t>GitHub external API, SignalR realtime updates, background service, Serilog logging, CSV export, mentor reminders.</a:t>
            </a:r>
            <a:endParaRPr sz="1600"/>
          </a:p>
        </p:txBody>
      </p:sp>
      <p:sp>
        <p:nvSpPr>
          <p:cNvPr id="360" name="Demo Narrative card"/>
          <p:cNvSpPr/>
          <p:nvPr/>
        </p:nvSpPr>
        <p:spPr>
          <a:xfrm>
            <a:off x="8229600" y="2047875"/>
            <a:ext cx="3286125" cy="1990724"/>
          </a:xfrm>
          <a:prstGeom prst="roundRect">
            <a:avLst/>
          </a:prstGeom>
          <a:solidFill>
            <a:srgbClr val="0F1226">
              <a:alpha val="78000"/>
            </a:srgbClr>
          </a:solidFill>
          <a:ln w="12700">
            <a:solidFill>
              <a:srgbClr val="C7D2FE">
                <a:alpha val="18000"/>
              </a:srgbClr>
            </a:solidFill>
          </a:ln>
        </p:spPr>
      </p:sp>
      <p:sp>
        <p:nvSpPr>
          <p:cNvPr id="361" name="Demo Narrative dot"/>
          <p:cNvSpPr/>
          <p:nvPr/>
        </p:nvSpPr>
        <p:spPr>
          <a:xfrm>
            <a:off x="8439150" y="2276475"/>
            <a:ext cx="95250" cy="95250"/>
          </a:xfrm>
          <a:prstGeom prst="ellipse">
            <a:avLst/>
          </a:prstGeom>
          <a:solidFill>
            <a:srgbClr val="E2574C"/>
          </a:solidFill>
          <a:ln>
            <a:noFill/>
          </a:ln>
        </p:spPr>
      </p:sp>
      <p:sp>
        <p:nvSpPr>
          <p:cNvPr id="362" name="Demo Narrative heading"/>
          <p:cNvSpPr txBox="1"/>
          <p:nvPr/>
        </p:nvSpPr>
        <p:spPr>
          <a:xfrm>
            <a:off x="8629650" y="2200275"/>
            <a:ext cx="2676525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1">
                <a:solidFill>
                  <a:srgbClr val="E2574C"/>
                </a:solidFill>
                <a:latin typeface="Aptos"/>
              </a:rPr>
              <a:t>Demo Narrative</a:t>
            </a:r>
            <a:endParaRPr sz="2000"/>
          </a:p>
        </p:txBody>
      </p:sp>
      <p:sp>
        <p:nvSpPr>
          <p:cNvPr id="363" name="Demo Narrative body"/>
          <p:cNvSpPr txBox="1"/>
          <p:nvPr/>
        </p:nvSpPr>
        <p:spPr>
          <a:xfrm>
            <a:off x="8458200" y="2600325"/>
            <a:ext cx="2828925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dirty="0">
                <a:solidFill>
                  <a:srgbClr val="C7D2FE"/>
                </a:solidFill>
                <a:latin typeface="Aptos"/>
              </a:rPr>
              <a:t>Register, add a skill, view decay, invite a mentor, accept, observe read-only, send reminder, sync GitHub.</a:t>
            </a:r>
            <a:endParaRPr sz="1600" dirty="0"/>
          </a:p>
        </p:txBody>
      </p:sp>
      <p:sp>
        <p:nvSpPr>
          <p:cNvPr id="370" name="closing"/>
          <p:cNvSpPr txBox="1"/>
          <p:nvPr/>
        </p:nvSpPr>
        <p:spPr>
          <a:xfrm>
            <a:off x="1057465" y="5067300"/>
            <a:ext cx="10086594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800" b="1" dirty="0">
                <a:solidFill>
                  <a:srgbClr val="00F5D4"/>
                </a:solidFill>
                <a:latin typeface="Aptos"/>
              </a:rPr>
              <a:t>Map your mind. Never lose a learned skill.</a:t>
            </a:r>
            <a:endParaRPr sz="3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784</Words>
  <Application>Microsoft Office PowerPoint</Application>
  <PresentationFormat>Widescreen</PresentationFormat>
  <Paragraphs>120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Astraea System Presentation</dc:title>
  <dc:creator>Astraea Project</dc:creator>
  <cp:lastModifiedBy>User</cp:lastModifiedBy>
  <cp:revision>4</cp:revision>
  <dcterms:modified xsi:type="dcterms:W3CDTF">2026-08-15T23:18:06Z</dcterms:modified>
</cp:coreProperties>
</file>